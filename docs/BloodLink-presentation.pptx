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f03422-862a-b5fa-1acd-0611df344be8}">
          <p14:sldIdLst>
            <p14:sldId id="256"/>
          </p14:sldIdLst>
        </p14:section>
        <p14:section name="Application" id="{9457986b-d101-4d0e-2507-49560667b44d}">
          <p14:sldIdLst>
            <p14:sldId id="257"/>
          </p14:sldIdLst>
        </p14:section>
        <p14:section name="Delivery" id="{f45b8b09-15ce-91d3-a671-0bf08b6b26b1}">
          <p14:sldIdLst>
            <p14:sldId id="258"/>
            <p14:sldId id="259"/>
          </p14:sldIdLst>
        </p14:section>
        <p14:section name="Security" id="{4bb47bec-87db-5382-52ab-797ad0d5c514}">
          <p14:sldIdLst>
            <p14:sldId id="260"/>
          </p14:sldIdLst>
        </p14:section>
        <p14:section name="Infrastructure" id="{9359ab50-defe-54e9-272b-ae32c94759ea}">
          <p14:sldIdLst>
            <p14:sldId id="261"/>
            <p14:sldId id="262"/>
          </p14:sldIdLst>
        </p14:section>
        <p14:section name="Operations" id="{dde544a8-2085-6088-b89c-1a12e30745d6}">
          <p14:sldIdLst>
            <p14:sldId id="263"/>
            <p14:sldId id="264"/>
          </p14:sldIdLst>
        </p14:section>
        <p14:section name="Conclusion" id="{0b39ed0e-430f-fc34-7437-09253d55b4e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BloodLink manages a blood bank: donors, donated units, hospital requests, and which units can safely go to which patient. The point of the project is the delivery pipeline around it: every change is tested, scanned, built into an image tagged with its commit, and deployed to Kubernetes, locally on kind and on AWS EKS built with Terraform. O- is highlighted because it is the universal donor: the allocator keeps it for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make this more than CRUD. Compatibility: an A- patient can only get A- or O-; the allocator prefers the exact group and keeps O- for patients who can receive nothing else. Expiry: red cells last 42 days, so the oldest compatible unit goes first to reduce wastage. Emergencies jump the queue. The dashboard shows stock per group with LOW and CRITICAL levels, units about to expire, fill rate and wastage.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one workflow file. Four jobs run in parallel: backend lint and tests with a 90% coverage floor, the frontend build, secret and dependency scanning, and Terraform and Helm validation with a Trivy misconfiguration scan. Only if all four pass are the images built. Trivy scans them before they are pushed, so a vulnerable image never reaches the registry. Images are tagged with the full commit SHA, so any pod can be traced to its commit. On main, the last job deploys to EKS: GitHub gets short-lived AWS credentials through OIDC, no access keys are stored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quality gate working on a realistic mistake. The change compiles and the app would run, but it breaks a medical rule. The compatibility test caught it, the pipeline graph shows the build and deploy jobs were skipped, so nothing reached a cluster. Tests run against a throwaway SQLite database, never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every image before it is pushed. The first version of the gate ignored vulnerabilities without a fix, and the backend passed. Scanning without that exception showed 44 HIGH findings from 8 CVEs in Debian packages the app never uses, such as util-linux. CVE-2026-76642: mount does not check whether its helper failed before running privileged hooks, so a local user could escalate privileges. Our container runs as a non-root user with a read-only filesystem and never mounts anything, so the practical risk was low, but rather than accept it we moved to Alpine, which does not ship those packages, and made the gate strict. Other layers: gitleaks over the whole history, dependency audits, Pod Security restricted, and a NetworkPolicy so only the backend can reach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a VPC across two availability zones with public subnets for the load balancer and private subnets for the nodes, a NAT gateway, and an EKS 1.35 cluster with a managed node group and add-ons, including the EBS CSI driver and NetworkPolicy support. State is in S3. I never ran apply blind: plan to a file, review it, apply that file. The cluster ran for about an hour, the app served traffic through an AWS load balancer, and then destroy removed all 66 resources; I checked AWS directly that nothing was left. The region is Sydney because the AWS account's organization policy only allows that region; region is a variable, so nothing else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deploys the backend and frontend with two replicas each, PostgreSQL as a StatefulSet on a persistent volume, ClusterIP services, and an Ingress that routes /api to the backend and / to the frontend. Under a load test the HorizontalPodAutoscaler scaled the backend from 2 to 6 pods. Each pod runs migrations in an init container; an advisory lock means two pods starting together never migrate at the same time. The namespace enforces Pod Security restricted, and a NetworkPolicy lets only database clients reach Postgres. I also practised six failures: bad image tag, a Service with no endpoints, database down, wrong password, out of memory, and a bad release with helm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the usual request rate, errors and latency, the backend exports business metrics: available units per blood group, units expiring within seven days, and how long requests take to fill. Seven alert rules cover the service being down, error rate, latency, critical stock, low O- stock, units expiring soon, and emergency requests waiting. Critical stock is firing right now because A-, B- and AB- are below five units. The dashboard shows the load test spike and the HPA scaling out to six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make a small visible change, push, open the Actions run and watch the jobs go green in about two minutes, then run helm upgrade with the new SHA and refresh the app: the footer shows the new build. On EKS this was fully automatic: the deploy job signed in to AWS with OIDC and upgraded the release itself. The first attempt failed because GitHub now sends an immutable subject in its token; CloudTrail showed the exact value and I fixed the trust policy in Terraform. If the network fails during the talk, the recording is in docs/demo.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real problems, not staged ones, and each is written up in the runbook. The pattern each time: read the exact error, find the source of truth, and fix it in code rather than by hand. The AWS account's organization policy only allows Sydney; a dry run per region proved it. The deploy role rejected GitHub because GitHub changed its token format; CloudTrail showed the exact subject. Grafana was killed for using more memory than its limit. And on my laptop's slow disk, etcd writes took over a second, so the scheduler kept losing leader election.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1B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9144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2240280"/>
            <a:ext cx="8046720" cy="82296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chemeClr val="accent6"/>
                </a:solidFill>
              </a:rPr>
              <a:t>BloodLink · DevOps capstone</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9144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BloodLink</a:t>
            </a:r>
            <a:endParaRPr lang="en-US" sz="4400" dirty="0"/>
          </a:p>
        </p:txBody>
      </p:sp>
      <p:sp>
        <p:nvSpPr>
          <p:cNvPr id="3" name="Text 0"/>
          <p:cNvSpPr/>
          <p:nvPr>
            <p:ph idx="101" type="body" hasCustomPrompt="1"/>
          </p:nvPr>
        </p:nvSpPr>
        <p:spPr>
          <a:xfrm>
            <a:off x="548640" y="2240280"/>
            <a:ext cx="8046720" cy="822960"/>
          </a:xfrm>
          <a:prstGeom prst="rect">
            <a:avLst/>
          </a:prstGeom>
          <a:noFill/>
          <a:ln/>
        </p:spPr>
        <p:txBody>
          <a:bodyPr wrap="square" lIns="0" tIns="0" rIns="0" bIns="0" rtlCol="0" anchor="t"/>
          <a:lstStyle/>
          <a:p>
            <a:pPr indent="0" marL="0">
              <a:buNone/>
            </a:pPr>
            <a:r>
              <a:rPr lang="en-US" sz="1800" dirty="0">
                <a:solidFill>
                  <a:schemeClr val="accent5"/>
                </a:solidFill>
              </a:rPr>
              <a:t>Blood bank inventory and compatible allocation, shipped through a full DevOps pipeline</a:t>
            </a:r>
            <a:endParaRPr lang="en-US" sz="1800" dirty="0"/>
          </a:p>
        </p:txBody>
      </p:sp>
      <p:sp>
        <p:nvSpPr>
          <p:cNvPr id="4" name="group O-"/>
          <p:cNvSpPr/>
          <p:nvPr/>
        </p:nvSpPr>
        <p:spPr>
          <a:xfrm>
            <a:off x="548640" y="3429000"/>
            <a:ext cx="457200" cy="457200"/>
          </a:xfrm>
          <a:prstGeom prst="ellipse">
            <a:avLst/>
          </a:prstGeom>
          <a:solidFill>
            <a:srgbClr val="B3152B"/>
          </a:solidFill>
          <a:ln w="12700">
            <a:solidFill>
              <a:srgbClr val="B3152B"/>
            </a:solidFill>
            <a:prstDash val="solid"/>
          </a:ln>
        </p:spPr>
      </p:sp>
      <p:sp>
        <p:nvSpPr>
          <p:cNvPr id="5" name="Text 3"/>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O-</a:t>
            </a:r>
            <a:endParaRPr lang="en-US" sz="1100" dirty="0"/>
          </a:p>
        </p:txBody>
      </p:sp>
      <p:sp>
        <p:nvSpPr>
          <p:cNvPr id="6" name="group O+"/>
          <p:cNvSpPr/>
          <p:nvPr/>
        </p:nvSpPr>
        <p:spPr>
          <a:xfrm>
            <a:off x="1115568" y="3429000"/>
            <a:ext cx="457200" cy="457200"/>
          </a:xfrm>
          <a:prstGeom prst="ellipse">
            <a:avLst/>
          </a:prstGeom>
          <a:solidFill>
            <a:srgbClr val="5C0A16"/>
          </a:solidFill>
          <a:ln w="12700">
            <a:solidFill>
              <a:srgbClr val="5C0A16"/>
            </a:solidFill>
            <a:prstDash val="solid"/>
          </a:ln>
        </p:spPr>
      </p:sp>
      <p:sp>
        <p:nvSpPr>
          <p:cNvPr id="7" name="Text 5"/>
          <p:cNvSpPr txBox="1"/>
          <p:nvPr/>
        </p:nvSpPr>
        <p:spPr>
          <a:xfrm>
            <a:off x="1115568"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O+</a:t>
            </a:r>
            <a:endParaRPr lang="en-US" sz="1100" dirty="0"/>
          </a:p>
        </p:txBody>
      </p:sp>
      <p:sp>
        <p:nvSpPr>
          <p:cNvPr id="8" name="group A-"/>
          <p:cNvSpPr/>
          <p:nvPr/>
        </p:nvSpPr>
        <p:spPr>
          <a:xfrm>
            <a:off x="1682496" y="3429000"/>
            <a:ext cx="457200" cy="457200"/>
          </a:xfrm>
          <a:prstGeom prst="ellipse">
            <a:avLst/>
          </a:prstGeom>
          <a:solidFill>
            <a:srgbClr val="5C0A16"/>
          </a:solidFill>
          <a:ln w="12700">
            <a:solidFill>
              <a:srgbClr val="5C0A16"/>
            </a:solidFill>
            <a:prstDash val="solid"/>
          </a:ln>
        </p:spPr>
      </p:sp>
      <p:sp>
        <p:nvSpPr>
          <p:cNvPr id="9" name="Text 7"/>
          <p:cNvSpPr txBox="1"/>
          <p:nvPr/>
        </p:nvSpPr>
        <p:spPr>
          <a:xfrm>
            <a:off x="1682496"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10" name="group A+"/>
          <p:cNvSpPr/>
          <p:nvPr/>
        </p:nvSpPr>
        <p:spPr>
          <a:xfrm>
            <a:off x="2249424" y="3429000"/>
            <a:ext cx="457200" cy="457200"/>
          </a:xfrm>
          <a:prstGeom prst="ellipse">
            <a:avLst/>
          </a:prstGeom>
          <a:solidFill>
            <a:srgbClr val="5C0A16"/>
          </a:solidFill>
          <a:ln w="12700">
            <a:solidFill>
              <a:srgbClr val="5C0A16"/>
            </a:solidFill>
            <a:prstDash val="solid"/>
          </a:ln>
        </p:spPr>
      </p:sp>
      <p:sp>
        <p:nvSpPr>
          <p:cNvPr id="11" name="Text 9"/>
          <p:cNvSpPr txBox="1"/>
          <p:nvPr/>
        </p:nvSpPr>
        <p:spPr>
          <a:xfrm>
            <a:off x="2249424"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12" name="group B-"/>
          <p:cNvSpPr/>
          <p:nvPr/>
        </p:nvSpPr>
        <p:spPr>
          <a:xfrm>
            <a:off x="2816352" y="3429000"/>
            <a:ext cx="457200" cy="457200"/>
          </a:xfrm>
          <a:prstGeom prst="ellipse">
            <a:avLst/>
          </a:prstGeom>
          <a:solidFill>
            <a:srgbClr val="5C0A16"/>
          </a:solidFill>
          <a:ln w="12700">
            <a:solidFill>
              <a:srgbClr val="5C0A16"/>
            </a:solidFill>
            <a:prstDash val="solid"/>
          </a:ln>
        </p:spPr>
      </p:sp>
      <p:sp>
        <p:nvSpPr>
          <p:cNvPr id="13" name="Text 11"/>
          <p:cNvSpPr txBox="1"/>
          <p:nvPr/>
        </p:nvSpPr>
        <p:spPr>
          <a:xfrm>
            <a:off x="2816352"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14" name="group B+"/>
          <p:cNvSpPr/>
          <p:nvPr/>
        </p:nvSpPr>
        <p:spPr>
          <a:xfrm>
            <a:off x="3383280" y="3429000"/>
            <a:ext cx="457200" cy="457200"/>
          </a:xfrm>
          <a:prstGeom prst="ellipse">
            <a:avLst/>
          </a:prstGeom>
          <a:solidFill>
            <a:srgbClr val="5C0A16"/>
          </a:solidFill>
          <a:ln w="12700">
            <a:solidFill>
              <a:srgbClr val="5C0A16"/>
            </a:solidFill>
            <a:prstDash val="solid"/>
          </a:ln>
        </p:spPr>
      </p:sp>
      <p:sp>
        <p:nvSpPr>
          <p:cNvPr id="15" name="Text 13"/>
          <p:cNvSpPr txBox="1"/>
          <p:nvPr/>
        </p:nvSpPr>
        <p:spPr>
          <a:xfrm>
            <a:off x="3383280"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B+</a:t>
            </a:r>
            <a:endParaRPr lang="en-US" sz="1100" dirty="0"/>
          </a:p>
        </p:txBody>
      </p:sp>
      <p:sp>
        <p:nvSpPr>
          <p:cNvPr id="16" name="group AB-"/>
          <p:cNvSpPr/>
          <p:nvPr/>
        </p:nvSpPr>
        <p:spPr>
          <a:xfrm>
            <a:off x="3950208" y="3429000"/>
            <a:ext cx="457200" cy="457200"/>
          </a:xfrm>
          <a:prstGeom prst="ellipse">
            <a:avLst/>
          </a:prstGeom>
          <a:solidFill>
            <a:srgbClr val="5C0A16"/>
          </a:solidFill>
          <a:ln w="12700">
            <a:solidFill>
              <a:srgbClr val="5C0A16"/>
            </a:solidFill>
            <a:prstDash val="solid"/>
          </a:ln>
        </p:spPr>
      </p:sp>
      <p:sp>
        <p:nvSpPr>
          <p:cNvPr id="17" name="Text 15"/>
          <p:cNvSpPr txBox="1"/>
          <p:nvPr/>
        </p:nvSpPr>
        <p:spPr>
          <a:xfrm>
            <a:off x="3950208"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AB-</a:t>
            </a:r>
            <a:endParaRPr lang="en-US" sz="1100" dirty="0"/>
          </a:p>
        </p:txBody>
      </p:sp>
      <p:sp>
        <p:nvSpPr>
          <p:cNvPr id="18" name="group AB+"/>
          <p:cNvSpPr/>
          <p:nvPr/>
        </p:nvSpPr>
        <p:spPr>
          <a:xfrm>
            <a:off x="4517136" y="3429000"/>
            <a:ext cx="457200" cy="457200"/>
          </a:xfrm>
          <a:prstGeom prst="ellipse">
            <a:avLst/>
          </a:prstGeom>
          <a:solidFill>
            <a:srgbClr val="5C0A16"/>
          </a:solidFill>
          <a:ln w="12700">
            <a:solidFill>
              <a:srgbClr val="5C0A16"/>
            </a:solidFill>
            <a:prstDash val="solid"/>
          </a:ln>
        </p:spPr>
      </p:sp>
      <p:sp>
        <p:nvSpPr>
          <p:cNvPr id="19" name="Text 17"/>
          <p:cNvSpPr txBox="1"/>
          <p:nvPr/>
        </p:nvSpPr>
        <p:spPr>
          <a:xfrm>
            <a:off x="4517136" y="3429000"/>
            <a:ext cx="457200" cy="457200"/>
          </a:xfrm>
          <a:prstGeom prst="rect">
            <a:avLst/>
          </a:prstGeom>
          <a:noFill/>
          <a:ln/>
        </p:spPr>
        <p:txBody>
          <a:bodyPr wrap="square" lIns="0" tIns="0" rIns="0" bIns="0" rtlCol="0" anchor="ctr"/>
          <a:lstStyle/>
          <a:p>
            <a:pPr algn="ctr" indent="0" marL="0">
              <a:buNone/>
            </a:pPr>
            <a:r>
              <a:rPr lang="en-US" sz="1100" b="1" dirty="0">
                <a:solidFill>
                  <a:schemeClr val="bg1"/>
                </a:solidFill>
              </a:rPr>
              <a:t>AB+</a:t>
            </a:r>
            <a:endParaRPr lang="en-US" sz="1100" dirty="0"/>
          </a:p>
        </p:txBody>
      </p:sp>
      <p:sp>
        <p:nvSpPr>
          <p:cNvPr id="20" name="Text 18"/>
          <p:cNvSpPr txBox="1"/>
          <p:nvPr/>
        </p:nvSpPr>
        <p:spPr>
          <a:xfrm>
            <a:off x="548640" y="4251960"/>
            <a:ext cx="8046720" cy="320040"/>
          </a:xfrm>
          <a:prstGeom prst="rect">
            <a:avLst/>
          </a:prstGeom>
          <a:noFill/>
          <a:ln/>
        </p:spPr>
        <p:txBody>
          <a:bodyPr wrap="square" lIns="0" tIns="0" rIns="0" bIns="0" rtlCol="0" anchor="ctr"/>
          <a:lstStyle/>
          <a:p>
            <a:pPr indent="0" marL="0">
              <a:buNone/>
            </a:pPr>
            <a:r>
              <a:rPr lang="en-US" sz="1300" dirty="0">
                <a:solidFill>
                  <a:schemeClr val="bg1"/>
                </a:solidFill>
              </a:rPr>
              <a:t>Ishan Ganguly · DevOps final capstone · github.com/Ishan007-bot/Bloodlink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Compatible blood, oldest unit first</a:t>
            </a:r>
            <a:endParaRPr lang="en-US" sz="3000" dirty="0"/>
          </a:p>
        </p:txBody>
      </p:sp>
      <p:sp>
        <p:nvSpPr>
          <p:cNvPr id="3" name="marker 1"/>
          <p:cNvSpPr/>
          <p:nvPr/>
        </p:nvSpPr>
        <p:spPr>
          <a:xfrm>
            <a:off x="457200" y="118872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133856"/>
            <a:ext cx="3291840" cy="777240"/>
          </a:xfrm>
          <a:prstGeom prst="rect">
            <a:avLst/>
          </a:prstGeom>
          <a:noFill/>
          <a:ln/>
        </p:spPr>
        <p:txBody>
          <a:bodyPr wrap="square" lIns="0" tIns="0" rIns="0" bIns="0" rtlCol="0" anchor="t"/>
          <a:lstStyle/>
          <a:p>
            <a:pPr indent="0" marL="0">
              <a:buNone/>
            </a:pPr>
            <a:r>
              <a:rPr lang="en-US" sz="1500" b="1" dirty="0">
                <a:solidFill>
                  <a:schemeClr val="tx1"/>
                </a:solidFill>
              </a:rPr>
              <a:t>Compatible allocation</a:t>
            </a:r>
            <a:endParaRPr lang="en-US" sz="1500" dirty="0"/>
          </a:p>
          <a:p>
            <a:pPr indent="0" marL="0">
              <a:buNone/>
            </a:pPr>
            <a:r>
              <a:rPr lang="en-US" sz="1300" dirty="0">
                <a:solidFill>
                  <a:schemeClr val="accent4"/>
                </a:solidFill>
              </a:rPr>
              <a:t>ABO/Rh rules: exact group first, then substitutes; O- kept for last</a:t>
            </a:r>
            <a:endParaRPr lang="en-US" sz="1500" dirty="0"/>
          </a:p>
        </p:txBody>
      </p:sp>
      <p:sp>
        <p:nvSpPr>
          <p:cNvPr id="6" name="marker 2"/>
          <p:cNvSpPr/>
          <p:nvPr/>
        </p:nvSpPr>
        <p:spPr>
          <a:xfrm>
            <a:off x="457200" y="205740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457200" y="2057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05840" y="2002536"/>
            <a:ext cx="3291840" cy="777240"/>
          </a:xfrm>
          <a:prstGeom prst="rect">
            <a:avLst/>
          </a:prstGeom>
          <a:noFill/>
          <a:ln/>
        </p:spPr>
        <p:txBody>
          <a:bodyPr wrap="square" lIns="0" tIns="0" rIns="0" bIns="0" rtlCol="0" anchor="t"/>
          <a:lstStyle/>
          <a:p>
            <a:pPr indent="0" marL="0">
              <a:buNone/>
            </a:pPr>
            <a:r>
              <a:rPr lang="en-US" sz="1500" b="1" dirty="0">
                <a:solidFill>
                  <a:schemeClr val="tx1"/>
                </a:solidFill>
              </a:rPr>
              <a:t>First expiring, first out</a:t>
            </a:r>
            <a:endParaRPr lang="en-US" sz="1500" dirty="0"/>
          </a:p>
          <a:p>
            <a:pPr indent="0" marL="0">
              <a:buNone/>
            </a:pPr>
            <a:r>
              <a:rPr lang="en-US" sz="1300" dirty="0">
                <a:solidFill>
                  <a:schemeClr val="accent4"/>
                </a:solidFill>
              </a:rPr>
              <a:t>Units expire 42 days after collection; the oldest usable unit is issued</a:t>
            </a:r>
            <a:endParaRPr lang="en-US" sz="1500" dirty="0"/>
          </a:p>
        </p:txBody>
      </p:sp>
      <p:sp>
        <p:nvSpPr>
          <p:cNvPr id="9" name="marker 3"/>
          <p:cNvSpPr/>
          <p:nvPr/>
        </p:nvSpPr>
        <p:spPr>
          <a:xfrm>
            <a:off x="457200" y="29260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926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05840" y="2871216"/>
            <a:ext cx="3291840" cy="777240"/>
          </a:xfrm>
          <a:prstGeom prst="rect">
            <a:avLst/>
          </a:prstGeom>
          <a:noFill/>
          <a:ln/>
        </p:spPr>
        <p:txBody>
          <a:bodyPr wrap="square" lIns="0" tIns="0" rIns="0" bIns="0" rtlCol="0" anchor="t"/>
          <a:lstStyle/>
          <a:p>
            <a:pPr indent="0" marL="0">
              <a:buNone/>
            </a:pPr>
            <a:r>
              <a:rPr lang="en-US" sz="1500" b="1" dirty="0">
                <a:solidFill>
                  <a:schemeClr val="tx1"/>
                </a:solidFill>
              </a:rPr>
              <a:t>Emergency queue</a:t>
            </a:r>
            <a:endParaRPr lang="en-US" sz="1500" dirty="0"/>
          </a:p>
          <a:p>
            <a:pPr indent="0" marL="0">
              <a:buNone/>
            </a:pPr>
            <a:r>
              <a:rPr lang="en-US" sz="1300" dirty="0">
                <a:solidFill>
                  <a:schemeClr val="accent4"/>
                </a:solidFill>
              </a:rPr>
              <a:t>Emergency requests are served before routine ones; partial fills are tracked</a:t>
            </a:r>
            <a:endParaRPr lang="en-US" sz="1500" dirty="0"/>
          </a:p>
        </p:txBody>
      </p:sp>
      <p:sp>
        <p:nvSpPr>
          <p:cNvPr id="12" name="BloodLink dashboard frame"/>
          <p:cNvSpPr/>
          <p:nvPr/>
        </p:nvSpPr>
        <p:spPr>
          <a:xfrm>
            <a:off x="4526280" y="1097280"/>
            <a:ext cx="4160520" cy="2697480"/>
          </a:xfrm>
          <a:prstGeom prst="roundRect">
            <a:avLst>
              <a:gd name="adj" fmla="val 2712"/>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3" name="BloodLink dashboard" descr="BloodLink dashboard">    </p:cNvPr>
          <p:cNvPicPr>
            <a:picLocks noChangeAspect="1"/>
          </p:cNvPicPr>
          <p:nvPr/>
        </p:nvPicPr>
        <p:blipFill>
          <a:blip r:embed="rId1"/>
          <a:stretch>
            <a:fillRect/>
          </a:stretch>
        </p:blipFill>
        <p:spPr>
          <a:xfrm>
            <a:off x="4590288" y="1185863"/>
            <a:ext cx="4032504" cy="2520315"/>
          </a:xfrm>
          <a:prstGeom prst="rect">
            <a:avLst/>
          </a:prstGeom>
        </p:spPr>
      </p:pic>
      <p:sp>
        <p:nvSpPr>
          <p:cNvPr id="14" name="Text 11"/>
          <p:cNvSpPr txBox="1"/>
          <p:nvPr/>
        </p:nvSpPr>
        <p:spPr>
          <a:xfrm>
            <a:off x="457200" y="4069080"/>
            <a:ext cx="8229600" cy="320040"/>
          </a:xfrm>
          <a:prstGeom prst="rect">
            <a:avLst/>
          </a:prstGeom>
          <a:noFill/>
          <a:ln/>
        </p:spPr>
        <p:txBody>
          <a:bodyPr wrap="square" lIns="0" tIns="0" rIns="0" bIns="0" rtlCol="0" anchor="ctr"/>
          <a:lstStyle/>
          <a:p>
            <a:pPr indent="0" marL="0">
              <a:buNone/>
            </a:pPr>
            <a:r>
              <a:rPr lang="en-US" sz="1300" dirty="0">
                <a:solidFill>
                  <a:schemeClr val="accent6"/>
                </a:solidFill>
              </a:rPr>
              <a:t>FastAPI · React · PostgreSQL 16 · 22 API routes · 5 tables managed by Alembic</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From commit to running cluster</a:t>
            </a:r>
            <a:endParaRPr lang="en-US" sz="3000" dirty="0"/>
          </a:p>
        </p:txBody>
      </p:sp>
      <p:sp>
        <p:nvSpPr>
          <p:cNvPr id="3" name="step Commit"/>
          <p:cNvSpPr/>
          <p:nvPr/>
        </p:nvSpPr>
        <p:spPr>
          <a:xfrm>
            <a:off x="457200" y="1325880"/>
            <a:ext cx="1481328" cy="1417320"/>
          </a:xfrm>
          <a:prstGeom prst="roundRect">
            <a:avLst>
              <a:gd name="adj" fmla="val 6452"/>
            </a:avLst>
          </a:prstGeom>
          <a:solidFill>
            <a:srgbClr val="1C1B22"/>
          </a:solidFill>
          <a:ln w="12700">
            <a:solidFill>
              <a:srgbClr val="1C1B22"/>
            </a:solidFill>
            <a:prstDash val="solid"/>
          </a:ln>
        </p:spPr>
      </p:sp>
      <p:sp>
        <p:nvSpPr>
          <p:cNvPr id="4" name="Text 2"/>
          <p:cNvSpPr txBox="1"/>
          <p:nvPr/>
        </p:nvSpPr>
        <p:spPr>
          <a:xfrm>
            <a:off x="566928" y="1435608"/>
            <a:ext cx="1261872" cy="1197864"/>
          </a:xfrm>
          <a:prstGeom prst="rect">
            <a:avLst/>
          </a:prstGeom>
          <a:noFill/>
          <a:ln/>
        </p:spPr>
        <p:txBody>
          <a:bodyPr wrap="square" lIns="0" tIns="0" rIns="0" bIns="0" rtlCol="0" anchor="t"/>
          <a:lstStyle/>
          <a:p>
            <a:pPr indent="0" marL="0">
              <a:buNone/>
            </a:pPr>
            <a:r>
              <a:rPr lang="en-US" sz="1500" b="1" dirty="0">
                <a:solidFill>
                  <a:schemeClr val="bg1"/>
                </a:solidFill>
              </a:rPr>
              <a:t>Commit</a:t>
            </a:r>
            <a:endParaRPr lang="en-US" sz="1500" dirty="0"/>
          </a:p>
          <a:p>
            <a:pPr indent="0" marL="0">
              <a:buNone/>
            </a:pPr>
            <a:r>
              <a:rPr lang="en-US" sz="1100" dirty="0">
                <a:solidFill>
                  <a:schemeClr val="bg2"/>
                </a:solidFill>
              </a:rPr>
              <a:t>push or pull request</a:t>
            </a:r>
            <a:endParaRPr lang="en-US" sz="1500" dirty="0"/>
          </a:p>
        </p:txBody>
      </p:sp>
      <p:sp>
        <p:nvSpPr>
          <p:cNvPr id="5" name="arrow 0"/>
          <p:cNvSpPr/>
          <p:nvPr/>
        </p:nvSpPr>
        <p:spPr>
          <a:xfrm>
            <a:off x="1984248" y="1929384"/>
            <a:ext cx="109728" cy="201168"/>
          </a:xfrm>
          <a:prstGeom prst="chevron">
            <a:avLst/>
          </a:prstGeom>
          <a:solidFill>
            <a:srgbClr val="6B7080"/>
          </a:solidFill>
          <a:ln w="12700">
            <a:solidFill>
              <a:srgbClr val="6B7080"/>
            </a:solidFill>
            <a:prstDash val="solid"/>
          </a:ln>
        </p:spPr>
      </p:sp>
      <p:sp>
        <p:nvSpPr>
          <p:cNvPr id="6" name="step Test and scan"/>
          <p:cNvSpPr/>
          <p:nvPr/>
        </p:nvSpPr>
        <p:spPr>
          <a:xfrm>
            <a:off x="2139696" y="1325880"/>
            <a:ext cx="1481328" cy="1417320"/>
          </a:xfrm>
          <a:prstGeom prst="roundRect">
            <a:avLst>
              <a:gd name="adj" fmla="val 6452"/>
            </a:avLst>
          </a:prstGeom>
          <a:solidFill>
            <a:srgbClr val="1C1B22"/>
          </a:solidFill>
          <a:ln w="12700">
            <a:solidFill>
              <a:srgbClr val="1C1B22"/>
            </a:solidFill>
            <a:prstDash val="solid"/>
          </a:ln>
        </p:spPr>
      </p:sp>
      <p:sp>
        <p:nvSpPr>
          <p:cNvPr id="7" name="Text 5"/>
          <p:cNvSpPr txBox="1"/>
          <p:nvPr/>
        </p:nvSpPr>
        <p:spPr>
          <a:xfrm>
            <a:off x="2249424" y="1435608"/>
            <a:ext cx="1261872" cy="1197864"/>
          </a:xfrm>
          <a:prstGeom prst="rect">
            <a:avLst/>
          </a:prstGeom>
          <a:noFill/>
          <a:ln/>
        </p:spPr>
        <p:txBody>
          <a:bodyPr wrap="square" lIns="0" tIns="0" rIns="0" bIns="0" rtlCol="0" anchor="t"/>
          <a:lstStyle/>
          <a:p>
            <a:pPr indent="0" marL="0">
              <a:buNone/>
            </a:pPr>
            <a:r>
              <a:rPr lang="en-US" sz="1500" b="1" dirty="0">
                <a:solidFill>
                  <a:schemeClr val="bg1"/>
                </a:solidFill>
              </a:rPr>
              <a:t>Test and scan</a:t>
            </a:r>
            <a:endParaRPr lang="en-US" sz="1500" dirty="0"/>
          </a:p>
          <a:p>
            <a:pPr indent="0" marL="0">
              <a:buNone/>
            </a:pPr>
            <a:r>
              <a:rPr lang="en-US" sz="1100" dirty="0">
                <a:solidFill>
                  <a:schemeClr val="bg2"/>
                </a:solidFill>
              </a:rPr>
              <a:t>ruff, 81 tests, gitleaks, pip-audit, npm audit, IaC checks</a:t>
            </a:r>
            <a:endParaRPr lang="en-US" sz="1500" dirty="0"/>
          </a:p>
        </p:txBody>
      </p:sp>
      <p:sp>
        <p:nvSpPr>
          <p:cNvPr id="8" name="arrow 1"/>
          <p:cNvSpPr/>
          <p:nvPr/>
        </p:nvSpPr>
        <p:spPr>
          <a:xfrm>
            <a:off x="3666744" y="1929384"/>
            <a:ext cx="109728" cy="201168"/>
          </a:xfrm>
          <a:prstGeom prst="chevron">
            <a:avLst/>
          </a:prstGeom>
          <a:solidFill>
            <a:srgbClr val="6B7080"/>
          </a:solidFill>
          <a:ln w="12700">
            <a:solidFill>
              <a:srgbClr val="6B7080"/>
            </a:solidFill>
            <a:prstDash val="solid"/>
          </a:ln>
        </p:spPr>
      </p:sp>
      <p:sp>
        <p:nvSpPr>
          <p:cNvPr id="9" name="step Build + Trivy"/>
          <p:cNvSpPr/>
          <p:nvPr/>
        </p:nvSpPr>
        <p:spPr>
          <a:xfrm>
            <a:off x="3822192" y="1325880"/>
            <a:ext cx="1481328" cy="1417320"/>
          </a:xfrm>
          <a:prstGeom prst="roundRect">
            <a:avLst>
              <a:gd name="adj" fmla="val 6452"/>
            </a:avLst>
          </a:prstGeom>
          <a:solidFill>
            <a:srgbClr val="B3152B"/>
          </a:solidFill>
          <a:ln w="12700">
            <a:solidFill>
              <a:srgbClr val="B3152B"/>
            </a:solidFill>
            <a:prstDash val="solid"/>
          </a:ln>
        </p:spPr>
      </p:sp>
      <p:sp>
        <p:nvSpPr>
          <p:cNvPr id="10" name="Text 8"/>
          <p:cNvSpPr txBox="1"/>
          <p:nvPr/>
        </p:nvSpPr>
        <p:spPr>
          <a:xfrm>
            <a:off x="3931920" y="1435608"/>
            <a:ext cx="1261872" cy="1197864"/>
          </a:xfrm>
          <a:prstGeom prst="rect">
            <a:avLst/>
          </a:prstGeom>
          <a:noFill/>
          <a:ln/>
        </p:spPr>
        <p:txBody>
          <a:bodyPr wrap="square" lIns="0" tIns="0" rIns="0" bIns="0" rtlCol="0" anchor="t"/>
          <a:lstStyle/>
          <a:p>
            <a:pPr indent="0" marL="0">
              <a:buNone/>
            </a:pPr>
            <a:r>
              <a:rPr lang="en-US" sz="1500" b="1" dirty="0">
                <a:solidFill>
                  <a:schemeClr val="bg1"/>
                </a:solidFill>
              </a:rPr>
              <a:t>Build + Trivy</a:t>
            </a:r>
            <a:endParaRPr lang="en-US" sz="1500" dirty="0"/>
          </a:p>
          <a:p>
            <a:pPr indent="0" marL="0">
              <a:buNone/>
            </a:pPr>
            <a:r>
              <a:rPr lang="en-US" sz="1100" dirty="0">
                <a:solidFill>
                  <a:schemeClr val="bg2"/>
                </a:solidFill>
              </a:rPr>
              <a:t>both images, gate on HIGH and CRITICAL</a:t>
            </a:r>
            <a:endParaRPr lang="en-US" sz="1500" dirty="0"/>
          </a:p>
        </p:txBody>
      </p:sp>
      <p:sp>
        <p:nvSpPr>
          <p:cNvPr id="11" name="arrow 2"/>
          <p:cNvSpPr/>
          <p:nvPr/>
        </p:nvSpPr>
        <p:spPr>
          <a:xfrm>
            <a:off x="5349240" y="1929384"/>
            <a:ext cx="109728" cy="201168"/>
          </a:xfrm>
          <a:prstGeom prst="chevron">
            <a:avLst/>
          </a:prstGeom>
          <a:solidFill>
            <a:srgbClr val="6B7080"/>
          </a:solidFill>
          <a:ln w="12700">
            <a:solidFill>
              <a:srgbClr val="6B7080"/>
            </a:solidFill>
            <a:prstDash val="solid"/>
          </a:ln>
        </p:spPr>
      </p:sp>
      <p:sp>
        <p:nvSpPr>
          <p:cNvPr id="12" name="step GHCR"/>
          <p:cNvSpPr/>
          <p:nvPr/>
        </p:nvSpPr>
        <p:spPr>
          <a:xfrm>
            <a:off x="5504688" y="1325880"/>
            <a:ext cx="1481328" cy="1417320"/>
          </a:xfrm>
          <a:prstGeom prst="roundRect">
            <a:avLst>
              <a:gd name="adj" fmla="val 6452"/>
            </a:avLst>
          </a:prstGeom>
          <a:solidFill>
            <a:srgbClr val="1C1B22"/>
          </a:solidFill>
          <a:ln w="12700">
            <a:solidFill>
              <a:srgbClr val="1C1B22"/>
            </a:solidFill>
            <a:prstDash val="solid"/>
          </a:ln>
        </p:spPr>
      </p:sp>
      <p:sp>
        <p:nvSpPr>
          <p:cNvPr id="13" name="Text 11"/>
          <p:cNvSpPr txBox="1"/>
          <p:nvPr/>
        </p:nvSpPr>
        <p:spPr>
          <a:xfrm>
            <a:off x="5614416" y="1435608"/>
            <a:ext cx="1261872" cy="1197864"/>
          </a:xfrm>
          <a:prstGeom prst="rect">
            <a:avLst/>
          </a:prstGeom>
          <a:noFill/>
          <a:ln/>
        </p:spPr>
        <p:txBody>
          <a:bodyPr wrap="square" lIns="0" tIns="0" rIns="0" bIns="0" rtlCol="0" anchor="t"/>
          <a:lstStyle/>
          <a:p>
            <a:pPr indent="0" marL="0">
              <a:buNone/>
            </a:pPr>
            <a:r>
              <a:rPr lang="en-US" sz="1500" b="1" dirty="0">
                <a:solidFill>
                  <a:schemeClr val="bg1"/>
                </a:solidFill>
              </a:rPr>
              <a:t>GHCR</a:t>
            </a:r>
            <a:endParaRPr lang="en-US" sz="1500" dirty="0"/>
          </a:p>
          <a:p>
            <a:pPr indent="0" marL="0">
              <a:buNone/>
            </a:pPr>
            <a:r>
              <a:rPr lang="en-US" sz="1100" dirty="0">
                <a:solidFill>
                  <a:schemeClr val="bg2"/>
                </a:solidFill>
              </a:rPr>
              <a:t>tagged with the commit SHA, never latest</a:t>
            </a:r>
            <a:endParaRPr lang="en-US" sz="1500" dirty="0"/>
          </a:p>
        </p:txBody>
      </p:sp>
      <p:sp>
        <p:nvSpPr>
          <p:cNvPr id="14" name="arrow 3"/>
          <p:cNvSpPr/>
          <p:nvPr/>
        </p:nvSpPr>
        <p:spPr>
          <a:xfrm>
            <a:off x="7031736" y="1929384"/>
            <a:ext cx="109728" cy="201168"/>
          </a:xfrm>
          <a:prstGeom prst="chevron">
            <a:avLst/>
          </a:prstGeom>
          <a:solidFill>
            <a:srgbClr val="6B7080"/>
          </a:solidFill>
          <a:ln w="12700">
            <a:solidFill>
              <a:srgbClr val="6B7080"/>
            </a:solidFill>
            <a:prstDash val="solid"/>
          </a:ln>
        </p:spPr>
      </p:sp>
      <p:sp>
        <p:nvSpPr>
          <p:cNvPr id="15" name="step Helm deploy"/>
          <p:cNvSpPr/>
          <p:nvPr/>
        </p:nvSpPr>
        <p:spPr>
          <a:xfrm>
            <a:off x="7187184" y="1325880"/>
            <a:ext cx="1481328" cy="1417320"/>
          </a:xfrm>
          <a:prstGeom prst="roundRect">
            <a:avLst>
              <a:gd name="adj" fmla="val 6452"/>
            </a:avLst>
          </a:prstGeom>
          <a:solidFill>
            <a:srgbClr val="1C1B22"/>
          </a:solidFill>
          <a:ln w="12700">
            <a:solidFill>
              <a:srgbClr val="1C1B22"/>
            </a:solidFill>
            <a:prstDash val="solid"/>
          </a:ln>
        </p:spPr>
      </p:sp>
      <p:sp>
        <p:nvSpPr>
          <p:cNvPr id="16" name="Text 14"/>
          <p:cNvSpPr txBox="1"/>
          <p:nvPr/>
        </p:nvSpPr>
        <p:spPr>
          <a:xfrm>
            <a:off x="7296912" y="1435608"/>
            <a:ext cx="1261872" cy="1197864"/>
          </a:xfrm>
          <a:prstGeom prst="rect">
            <a:avLst/>
          </a:prstGeom>
          <a:noFill/>
          <a:ln/>
        </p:spPr>
        <p:txBody>
          <a:bodyPr wrap="square" lIns="0" tIns="0" rIns="0" bIns="0" rtlCol="0" anchor="t"/>
          <a:lstStyle/>
          <a:p>
            <a:pPr indent="0" marL="0">
              <a:buNone/>
            </a:pPr>
            <a:r>
              <a:rPr lang="en-US" sz="1500" b="1" dirty="0">
                <a:solidFill>
                  <a:schemeClr val="bg1"/>
                </a:solidFill>
              </a:rPr>
              <a:t>Helm deploy</a:t>
            </a:r>
            <a:endParaRPr lang="en-US" sz="1500" dirty="0"/>
          </a:p>
          <a:p>
            <a:pPr indent="0" marL="0">
              <a:buNone/>
            </a:pPr>
            <a:r>
              <a:rPr lang="en-US" sz="1100" dirty="0">
                <a:solidFill>
                  <a:schemeClr val="bg2"/>
                </a:solidFill>
              </a:rPr>
              <a:t>kind locally, EKS on AWS via OIDC</a:t>
            </a:r>
            <a:endParaRPr lang="en-US" sz="1500" dirty="0"/>
          </a:p>
        </p:txBody>
      </p:sp>
      <p:sp>
        <p:nvSpPr>
          <p:cNvPr id="17" name="Text 15"/>
          <p:cNvSpPr txBox="1"/>
          <p:nvPr/>
        </p:nvSpPr>
        <p:spPr>
          <a:xfrm>
            <a:off x="457200" y="3108960"/>
            <a:ext cx="256032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6 jobs</a:t>
            </a:r>
            <a:endParaRPr lang="en-US" sz="3400" dirty="0"/>
          </a:p>
        </p:txBody>
      </p:sp>
      <p:sp>
        <p:nvSpPr>
          <p:cNvPr id="18" name="Text 16"/>
          <p:cNvSpPr txBox="1"/>
          <p:nvPr/>
        </p:nvSpPr>
        <p:spPr>
          <a:xfrm>
            <a:off x="457200" y="3657600"/>
            <a:ext cx="2560320" cy="411480"/>
          </a:xfrm>
          <a:prstGeom prst="rect">
            <a:avLst/>
          </a:prstGeom>
          <a:noFill/>
          <a:ln/>
        </p:spPr>
        <p:txBody>
          <a:bodyPr wrap="square" lIns="0" tIns="0" rIns="0" bIns="0" rtlCol="0" anchor="t"/>
          <a:lstStyle/>
          <a:p>
            <a:pPr indent="0" marL="0">
              <a:buNone/>
            </a:pPr>
            <a:r>
              <a:rPr lang="en-US" sz="1200" dirty="0">
                <a:solidFill>
                  <a:schemeClr val="accent6"/>
                </a:solidFill>
              </a:rPr>
              <a:t>run on every push; images build only when tests and scans pass</a:t>
            </a:r>
            <a:endParaRPr lang="en-US" sz="1200" dirty="0"/>
          </a:p>
        </p:txBody>
      </p:sp>
      <p:sp>
        <p:nvSpPr>
          <p:cNvPr id="19" name="Text 17"/>
          <p:cNvSpPr txBox="1"/>
          <p:nvPr/>
        </p:nvSpPr>
        <p:spPr>
          <a:xfrm>
            <a:off x="3291840" y="3108960"/>
            <a:ext cx="256032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 SHA</a:t>
            </a:r>
            <a:endParaRPr lang="en-US" sz="3400" dirty="0"/>
          </a:p>
        </p:txBody>
      </p:sp>
      <p:sp>
        <p:nvSpPr>
          <p:cNvPr id="20" name="Text 18"/>
          <p:cNvSpPr txBox="1"/>
          <p:nvPr/>
        </p:nvSpPr>
        <p:spPr>
          <a:xfrm>
            <a:off x="3291840" y="3657600"/>
            <a:ext cx="2560320" cy="411480"/>
          </a:xfrm>
          <a:prstGeom prst="rect">
            <a:avLst/>
          </a:prstGeom>
          <a:noFill/>
          <a:ln/>
        </p:spPr>
        <p:txBody>
          <a:bodyPr wrap="square" lIns="0" tIns="0" rIns="0" bIns="0" rtlCol="0" anchor="t"/>
          <a:lstStyle/>
          <a:p>
            <a:pPr indent="0" marL="0">
              <a:buNone/>
            </a:pPr>
            <a:r>
              <a:rPr lang="en-US" sz="1200" dirty="0">
                <a:solidFill>
                  <a:schemeClr val="accent6"/>
                </a:solidFill>
              </a:rPr>
              <a:t>per image: every running pod traces back to one commit</a:t>
            </a:r>
            <a:endParaRPr lang="en-US" sz="1200" dirty="0"/>
          </a:p>
        </p:txBody>
      </p:sp>
      <p:sp>
        <p:nvSpPr>
          <p:cNvPr id="21" name="Text 19"/>
          <p:cNvSpPr txBox="1"/>
          <p:nvPr/>
        </p:nvSpPr>
        <p:spPr>
          <a:xfrm>
            <a:off x="6126480" y="3108960"/>
            <a:ext cx="256032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 keys</a:t>
            </a:r>
            <a:endParaRPr lang="en-US" sz="3400" dirty="0"/>
          </a:p>
        </p:txBody>
      </p:sp>
      <p:sp>
        <p:nvSpPr>
          <p:cNvPr id="22" name="Text 20"/>
          <p:cNvSpPr txBox="1"/>
          <p:nvPr/>
        </p:nvSpPr>
        <p:spPr>
          <a:xfrm>
            <a:off x="6126480" y="3657600"/>
            <a:ext cx="2560320" cy="411480"/>
          </a:xfrm>
          <a:prstGeom prst="rect">
            <a:avLst/>
          </a:prstGeom>
          <a:noFill/>
          <a:ln/>
        </p:spPr>
        <p:txBody>
          <a:bodyPr wrap="square" lIns="0" tIns="0" rIns="0" bIns="0" rtlCol="0" anchor="t"/>
          <a:lstStyle/>
          <a:p>
            <a:pPr indent="0" marL="0">
              <a:buNone/>
            </a:pPr>
            <a:r>
              <a:rPr lang="en-US" sz="1200" dirty="0">
                <a:solidFill>
                  <a:schemeClr val="accent6"/>
                </a:solidFill>
              </a:rPr>
              <a:t>stored in GitHub: AWS access is short-lived OIDC</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failing test stopped an unsafe change</a:t>
            </a:r>
            <a:endParaRPr lang="en-US" sz="3000" dirty="0"/>
          </a:p>
        </p:txBody>
      </p:sp>
      <p:sp>
        <p:nvSpPr>
          <p:cNvPr id="3" name="Text 1"/>
          <p:cNvSpPr txBox="1"/>
          <p:nvPr/>
        </p:nvSpPr>
        <p:spPr>
          <a:xfrm>
            <a:off x="457200" y="1097280"/>
            <a:ext cx="3840480" cy="914400"/>
          </a:xfrm>
          <a:prstGeom prst="rect">
            <a:avLst/>
          </a:prstGeom>
          <a:noFill/>
          <a:ln/>
        </p:spPr>
        <p:txBody>
          <a:bodyPr wrap="square" lIns="0" tIns="0" rIns="0" bIns="0" rtlCol="0" anchor="t"/>
          <a:lstStyle/>
          <a:p>
            <a:pPr indent="0" marL="0">
              <a:buNone/>
            </a:pPr>
            <a:r>
              <a:rPr lang="en-US" sz="1500" b="1" dirty="0">
                <a:solidFill>
                  <a:schemeClr val="tx1"/>
                </a:solidFill>
              </a:rPr>
              <a:t>Pull request #1: “Use O+ stock for A- patients”</a:t>
            </a:r>
            <a:endParaRPr lang="en-US" sz="1500" dirty="0"/>
          </a:p>
          <a:p>
            <a:pPr indent="0" marL="0">
              <a:buNone/>
            </a:pPr>
            <a:r>
              <a:rPr lang="en-US" sz="1300" dirty="0">
                <a:solidFill>
                  <a:schemeClr val="accent4"/>
                </a:solidFill>
              </a:rPr>
              <a:t>Looks helpful when A- stock is low, but gives Rh-positive blood to Rh-negative patients.</a:t>
            </a:r>
            <a:endParaRPr lang="en-US" sz="1500" dirty="0"/>
          </a:p>
        </p:txBody>
      </p:sp>
      <p:sp>
        <p:nvSpPr>
          <p:cNvPr id="4" name="marker 1"/>
          <p:cNvSpPr/>
          <p:nvPr/>
        </p:nvSpPr>
        <p:spPr>
          <a:xfrm>
            <a:off x="457200" y="219456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457200" y="2194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05840" y="2139696"/>
            <a:ext cx="3291840" cy="594360"/>
          </a:xfrm>
          <a:prstGeom prst="rect">
            <a:avLst/>
          </a:prstGeom>
          <a:noFill/>
          <a:ln/>
        </p:spPr>
        <p:txBody>
          <a:bodyPr wrap="square" lIns="0" tIns="0" rIns="0" bIns="0" rtlCol="0" anchor="t"/>
          <a:lstStyle/>
          <a:p>
            <a:pPr indent="0" marL="0">
              <a:buNone/>
            </a:pPr>
            <a:r>
              <a:rPr lang="en-US" sz="1500" b="1" dirty="0">
                <a:solidFill>
                  <a:schemeClr val="tx1"/>
                </a:solidFill>
              </a:rPr>
              <a:t>Test fails</a:t>
            </a:r>
            <a:endParaRPr lang="en-US" sz="1500" dirty="0"/>
          </a:p>
          <a:p>
            <a:pPr indent="0" marL="0">
              <a:buNone/>
            </a:pPr>
            <a:r>
              <a:rPr lang="en-US" sz="1300" dirty="0">
                <a:solidFill>
                  <a:schemeClr val="accent4"/>
                </a:solidFill>
              </a:rPr>
              <a:t>is_compatible('O+', 'A-') returned True</a:t>
            </a:r>
            <a:endParaRPr lang="en-US" sz="1500" dirty="0"/>
          </a:p>
        </p:txBody>
      </p:sp>
      <p:sp>
        <p:nvSpPr>
          <p:cNvPr id="7" name="marker 2"/>
          <p:cNvSpPr/>
          <p:nvPr/>
        </p:nvSpPr>
        <p:spPr>
          <a:xfrm>
            <a:off x="457200" y="2880360"/>
            <a:ext cx="384048" cy="384048"/>
          </a:xfrm>
          <a:prstGeom prst="ellipse">
            <a:avLst/>
          </a:prstGeom>
          <a:solidFill>
            <a:schemeClr val="accent1"/>
          </a:solidFill>
          <a:ln w="12700">
            <a:solidFill>
              <a:schemeClr val="accent1"/>
            </a:solidFill>
            <a:prstDash val="solid"/>
          </a:ln>
        </p:spPr>
      </p:sp>
      <p:sp>
        <p:nvSpPr>
          <p:cNvPr id="8" name="Text 6"/>
          <p:cNvSpPr txBox="1"/>
          <p:nvPr/>
        </p:nvSpPr>
        <p:spPr>
          <a:xfrm>
            <a:off x="457200" y="2880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05840" y="2825496"/>
            <a:ext cx="3291840" cy="594360"/>
          </a:xfrm>
          <a:prstGeom prst="rect">
            <a:avLst/>
          </a:prstGeom>
          <a:noFill/>
          <a:ln/>
        </p:spPr>
        <p:txBody>
          <a:bodyPr wrap="square" lIns="0" tIns="0" rIns="0" bIns="0" rtlCol="0" anchor="t"/>
          <a:lstStyle/>
          <a:p>
            <a:pPr indent="0" marL="0">
              <a:buNone/>
            </a:pPr>
            <a:r>
              <a:rPr lang="en-US" sz="1500" b="1" dirty="0">
                <a:solidFill>
                  <a:schemeClr val="tx1"/>
                </a:solidFill>
              </a:rPr>
              <a:t>Nothing ships</a:t>
            </a:r>
            <a:endParaRPr lang="en-US" sz="1500" dirty="0"/>
          </a:p>
          <a:p>
            <a:pPr indent="0" marL="0">
              <a:buNone/>
            </a:pPr>
            <a:r>
              <a:rPr lang="en-US" sz="1300" dirty="0">
                <a:solidFill>
                  <a:schemeClr val="accent4"/>
                </a:solidFill>
              </a:rPr>
              <a:t>no image built, no deploy</a:t>
            </a:r>
            <a:endParaRPr lang="en-US" sz="1500" dirty="0"/>
          </a:p>
        </p:txBody>
      </p:sp>
      <p:sp>
        <p:nvSpPr>
          <p:cNvPr id="10" name="marker 3"/>
          <p:cNvSpPr/>
          <p:nvPr/>
        </p:nvSpPr>
        <p:spPr>
          <a:xfrm>
            <a:off x="457200" y="3566160"/>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457200" y="3566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10"/>
          <p:cNvSpPr txBox="1"/>
          <p:nvPr/>
        </p:nvSpPr>
        <p:spPr>
          <a:xfrm>
            <a:off x="1005840" y="3511296"/>
            <a:ext cx="3291840" cy="594360"/>
          </a:xfrm>
          <a:prstGeom prst="rect">
            <a:avLst/>
          </a:prstGeom>
          <a:noFill/>
          <a:ln/>
        </p:spPr>
        <p:txBody>
          <a:bodyPr wrap="square" lIns="0" tIns="0" rIns="0" bIns="0" rtlCol="0" anchor="t"/>
          <a:lstStyle/>
          <a:p>
            <a:pPr indent="0" marL="0">
              <a:buNone/>
            </a:pPr>
            <a:r>
              <a:rPr lang="en-US" sz="1500" b="1" dirty="0">
                <a:solidFill>
                  <a:schemeClr val="tx1"/>
                </a:solidFill>
              </a:rPr>
              <a:t>Fix, green, merge</a:t>
            </a:r>
            <a:endParaRPr lang="en-US" sz="1500" dirty="0"/>
          </a:p>
          <a:p>
            <a:pPr indent="0" marL="0">
              <a:buNone/>
            </a:pPr>
            <a:r>
              <a:rPr lang="en-US" sz="1300" dirty="0">
                <a:solidFill>
                  <a:schemeClr val="accent4"/>
                </a:solidFill>
              </a:rPr>
              <a:t>every check passes</a:t>
            </a:r>
            <a:endParaRPr lang="en-US" sz="1500" dirty="0"/>
          </a:p>
        </p:txBody>
      </p:sp>
      <p:sp>
        <p:nvSpPr>
          <p:cNvPr id="13" name="Pipeline blocked by failing test frame"/>
          <p:cNvSpPr/>
          <p:nvPr/>
        </p:nvSpPr>
        <p:spPr>
          <a:xfrm>
            <a:off x="4526280" y="1097280"/>
            <a:ext cx="4160520" cy="2697480"/>
          </a:xfrm>
          <a:prstGeom prst="roundRect">
            <a:avLst>
              <a:gd name="adj" fmla="val 2712"/>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4" name="Pipeline blocked by failing test" descr="Pipeline blocked by failing test">    </p:cNvPr>
          <p:cNvPicPr>
            <a:picLocks noChangeAspect="1"/>
          </p:cNvPicPr>
          <p:nvPr/>
        </p:nvPicPr>
        <p:blipFill>
          <a:blip r:embed="rId1"/>
          <a:stretch>
            <a:fillRect/>
          </a:stretch>
        </p:blipFill>
        <p:spPr>
          <a:xfrm>
            <a:off x="4590288" y="1185863"/>
            <a:ext cx="4032504" cy="2520315"/>
          </a:xfrm>
          <a:prstGeom prst="rect">
            <a:avLst/>
          </a:prstGeom>
        </p:spPr>
      </p:pic>
      <p:sp>
        <p:nvSpPr>
          <p:cNvPr id="15" name="Text 12"/>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300" dirty="0">
                <a:solidFill>
                  <a:schemeClr val="accent6"/>
                </a:solidFill>
              </a:rPr>
              <a:t>81 tests · 97 % coverage · the build fails below 90 %</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Security gates: 44 HIGH CVEs down to 0</a:t>
            </a:r>
            <a:endParaRPr lang="en-US" sz="3000" dirty="0"/>
          </a:p>
        </p:txBody>
      </p:sp>
      <p:sp>
        <p:nvSpPr>
          <p:cNvPr id="3" name="Text 1"/>
          <p:cNvSpPr txBox="1"/>
          <p:nvPr/>
        </p:nvSpPr>
        <p:spPr>
          <a:xfrm>
            <a:off x="457200" y="1143000"/>
            <a:ext cx="192024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44 → 0</a:t>
            </a:r>
            <a:endParaRPr lang="en-US" sz="3400" dirty="0"/>
          </a:p>
        </p:txBody>
      </p:sp>
      <p:sp>
        <p:nvSpPr>
          <p:cNvPr id="4" name="Text 2"/>
          <p:cNvSpPr txBox="1"/>
          <p:nvPr/>
        </p:nvSpPr>
        <p:spPr>
          <a:xfrm>
            <a:off x="457200" y="1691640"/>
            <a:ext cx="1920240" cy="411480"/>
          </a:xfrm>
          <a:prstGeom prst="rect">
            <a:avLst/>
          </a:prstGeom>
          <a:noFill/>
          <a:ln/>
        </p:spPr>
        <p:txBody>
          <a:bodyPr wrap="square" lIns="0" tIns="0" rIns="0" bIns="0" rtlCol="0" anchor="t"/>
          <a:lstStyle/>
          <a:p>
            <a:pPr indent="0" marL="0">
              <a:buNone/>
            </a:pPr>
            <a:r>
              <a:rPr lang="en-US" sz="1200" dirty="0">
                <a:solidFill>
                  <a:schemeClr val="accent6"/>
                </a:solidFill>
              </a:rPr>
              <a:t>HIGH CVEs in the backend image</a:t>
            </a:r>
            <a:endParaRPr lang="en-US" sz="1200" dirty="0"/>
          </a:p>
        </p:txBody>
      </p:sp>
      <p:sp>
        <p:nvSpPr>
          <p:cNvPr id="5" name="Text 3"/>
          <p:cNvSpPr txBox="1"/>
          <p:nvPr/>
        </p:nvSpPr>
        <p:spPr>
          <a:xfrm>
            <a:off x="2514600" y="1143000"/>
            <a:ext cx="192024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195 MB</a:t>
            </a:r>
            <a:endParaRPr lang="en-US" sz="3400" dirty="0"/>
          </a:p>
        </p:txBody>
      </p:sp>
      <p:sp>
        <p:nvSpPr>
          <p:cNvPr id="6" name="Text 4"/>
          <p:cNvSpPr txBox="1"/>
          <p:nvPr/>
        </p:nvSpPr>
        <p:spPr>
          <a:xfrm>
            <a:off x="2514600" y="1691640"/>
            <a:ext cx="1920240" cy="411480"/>
          </a:xfrm>
          <a:prstGeom prst="rect">
            <a:avLst/>
          </a:prstGeom>
          <a:noFill/>
          <a:ln/>
        </p:spPr>
        <p:txBody>
          <a:bodyPr wrap="square" lIns="0" tIns="0" rIns="0" bIns="0" rtlCol="0" anchor="t"/>
          <a:lstStyle/>
          <a:p>
            <a:pPr indent="0" marL="0">
              <a:buNone/>
            </a:pPr>
            <a:r>
              <a:rPr lang="en-US" sz="1200" dirty="0">
                <a:solidFill>
                  <a:schemeClr val="accent6"/>
                </a:solidFill>
              </a:rPr>
              <a:t>image size, was 291 MB on Debian slim</a:t>
            </a:r>
            <a:endParaRPr lang="en-US" sz="1200" dirty="0"/>
          </a:p>
        </p:txBody>
      </p:sp>
      <p:sp>
        <p:nvSpPr>
          <p:cNvPr id="7" name="Text 5"/>
          <p:cNvSpPr txBox="1"/>
          <p:nvPr/>
        </p:nvSpPr>
        <p:spPr>
          <a:xfrm>
            <a:off x="457200" y="2240280"/>
            <a:ext cx="3977640" cy="2011680"/>
          </a:xfrm>
          <a:prstGeom prst="rect">
            <a:avLst/>
          </a:prstGeom>
          <a:noFill/>
          <a:ln/>
        </p:spPr>
        <p:txBody>
          <a:bodyPr wrap="square" lIns="0" tIns="0" rIns="0" bIns="0" rtlCol="0" anchor="t"/>
          <a:lstStyle/>
          <a:p>
            <a:pPr indent="0" marL="0">
              <a:buNone/>
            </a:pPr>
            <a:r>
              <a:rPr lang="en-US" sz="1400" b="1" dirty="0">
                <a:solidFill>
                  <a:schemeClr val="tx1"/>
                </a:solidFill>
              </a:rPr>
              <a:t>One CVE explained: CVE-2026-76642 (util-linux)</a:t>
            </a:r>
            <a:endParaRPr lang="en-US" sz="1400" dirty="0"/>
          </a:p>
          <a:p>
            <a:pPr indent="0" marL="0">
              <a:buNone/>
            </a:pPr>
            <a:r>
              <a:rPr lang="en-US" sz="1200" dirty="0">
                <a:solidFill>
                  <a:schemeClr val="accent4"/>
                </a:solidFill>
              </a:rPr>
              <a:t>mount runs privileged post-mount hooks even when the mount helper failed: local privilege escalation. Low risk here (non-root, read-only, no mount), but it shipped in every image, with no fix available. The gate now fails on unfixed CVEs too, and the backend moved to Alpine, which does not contain it.</a:t>
            </a:r>
            <a:endParaRPr lang="en-US" sz="1400" dirty="0"/>
          </a:p>
        </p:txBody>
      </p:sp>
      <p:sp>
        <p:nvSpPr>
          <p:cNvPr id="8" name="chip Trivy images + IaC"/>
          <p:cNvSpPr/>
          <p:nvPr/>
        </p:nvSpPr>
        <p:spPr>
          <a:xfrm>
            <a:off x="4754880" y="1188720"/>
            <a:ext cx="1874520" cy="329184"/>
          </a:xfrm>
          <a:prstGeom prst="roundRect">
            <a:avLst>
              <a:gd name="adj" fmla="val 50000"/>
            </a:avLst>
          </a:prstGeom>
          <a:solidFill>
            <a:schemeClr val="bg2"/>
          </a:solidFill>
          <a:ln w="12700">
            <a:solidFill>
              <a:schemeClr val="bg2"/>
            </a:solidFill>
            <a:prstDash val="solid"/>
          </a:ln>
        </p:spPr>
      </p:sp>
      <p:sp>
        <p:nvSpPr>
          <p:cNvPr id="9" name="Text 7"/>
          <p:cNvSpPr txBox="1"/>
          <p:nvPr/>
        </p:nvSpPr>
        <p:spPr>
          <a:xfrm>
            <a:off x="4754880" y="11887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Trivy images + IaC</a:t>
            </a:r>
            <a:endParaRPr lang="en-US" sz="1100" dirty="0"/>
          </a:p>
        </p:txBody>
      </p:sp>
      <p:sp>
        <p:nvSpPr>
          <p:cNvPr id="10" name="chip gitleaks: no secrets"/>
          <p:cNvSpPr/>
          <p:nvPr/>
        </p:nvSpPr>
        <p:spPr>
          <a:xfrm>
            <a:off x="6766560" y="1188720"/>
            <a:ext cx="1874520" cy="329184"/>
          </a:xfrm>
          <a:prstGeom prst="roundRect">
            <a:avLst>
              <a:gd name="adj" fmla="val 50000"/>
            </a:avLst>
          </a:prstGeom>
          <a:solidFill>
            <a:schemeClr val="bg2"/>
          </a:solidFill>
          <a:ln w="12700">
            <a:solidFill>
              <a:schemeClr val="bg2"/>
            </a:solidFill>
            <a:prstDash val="solid"/>
          </a:ln>
        </p:spPr>
      </p:sp>
      <p:sp>
        <p:nvSpPr>
          <p:cNvPr id="11" name="Text 9"/>
          <p:cNvSpPr txBox="1"/>
          <p:nvPr/>
        </p:nvSpPr>
        <p:spPr>
          <a:xfrm>
            <a:off x="6766560" y="11887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gitleaks: no secrets</a:t>
            </a:r>
            <a:endParaRPr lang="en-US" sz="1100" dirty="0"/>
          </a:p>
        </p:txBody>
      </p:sp>
      <p:sp>
        <p:nvSpPr>
          <p:cNvPr id="12" name="chip pip-audit · npm audit"/>
          <p:cNvSpPr/>
          <p:nvPr/>
        </p:nvSpPr>
        <p:spPr>
          <a:xfrm>
            <a:off x="4754880" y="1645920"/>
            <a:ext cx="1874520" cy="329184"/>
          </a:xfrm>
          <a:prstGeom prst="roundRect">
            <a:avLst>
              <a:gd name="adj" fmla="val 50000"/>
            </a:avLst>
          </a:prstGeom>
          <a:solidFill>
            <a:schemeClr val="bg2"/>
          </a:solidFill>
          <a:ln w="12700">
            <a:solidFill>
              <a:schemeClr val="bg2"/>
            </a:solidFill>
            <a:prstDash val="solid"/>
          </a:ln>
        </p:spPr>
      </p:sp>
      <p:sp>
        <p:nvSpPr>
          <p:cNvPr id="13" name="Text 11"/>
          <p:cNvSpPr txBox="1"/>
          <p:nvPr/>
        </p:nvSpPr>
        <p:spPr>
          <a:xfrm>
            <a:off x="4754880" y="16459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pip-audit · npm audit</a:t>
            </a:r>
            <a:endParaRPr lang="en-US" sz="1100" dirty="0"/>
          </a:p>
        </p:txBody>
      </p:sp>
      <p:sp>
        <p:nvSpPr>
          <p:cNvPr id="14" name="chip non-root, read-only"/>
          <p:cNvSpPr/>
          <p:nvPr/>
        </p:nvSpPr>
        <p:spPr>
          <a:xfrm>
            <a:off x="6766560" y="1645920"/>
            <a:ext cx="1874520" cy="329184"/>
          </a:xfrm>
          <a:prstGeom prst="roundRect">
            <a:avLst>
              <a:gd name="adj" fmla="val 50000"/>
            </a:avLst>
          </a:prstGeom>
          <a:solidFill>
            <a:schemeClr val="bg2"/>
          </a:solidFill>
          <a:ln w="12700">
            <a:solidFill>
              <a:schemeClr val="bg2"/>
            </a:solidFill>
            <a:prstDash val="solid"/>
          </a:ln>
        </p:spPr>
      </p:sp>
      <p:sp>
        <p:nvSpPr>
          <p:cNvPr id="15" name="Text 13"/>
          <p:cNvSpPr txBox="1"/>
          <p:nvPr/>
        </p:nvSpPr>
        <p:spPr>
          <a:xfrm>
            <a:off x="6766560" y="16459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non-root, read-only</a:t>
            </a:r>
            <a:endParaRPr lang="en-US" sz="1100" dirty="0"/>
          </a:p>
        </p:txBody>
      </p:sp>
      <p:sp>
        <p:nvSpPr>
          <p:cNvPr id="16" name="chip Pod Security restricted"/>
          <p:cNvSpPr/>
          <p:nvPr/>
        </p:nvSpPr>
        <p:spPr>
          <a:xfrm>
            <a:off x="4754880" y="2103120"/>
            <a:ext cx="1874520" cy="329184"/>
          </a:xfrm>
          <a:prstGeom prst="roundRect">
            <a:avLst>
              <a:gd name="adj" fmla="val 50000"/>
            </a:avLst>
          </a:prstGeom>
          <a:solidFill>
            <a:schemeClr val="bg2"/>
          </a:solidFill>
          <a:ln w="12700">
            <a:solidFill>
              <a:schemeClr val="bg2"/>
            </a:solidFill>
            <a:prstDash val="solid"/>
          </a:ln>
        </p:spPr>
      </p:sp>
      <p:sp>
        <p:nvSpPr>
          <p:cNvPr id="17" name="Text 15"/>
          <p:cNvSpPr txBox="1"/>
          <p:nvPr/>
        </p:nvSpPr>
        <p:spPr>
          <a:xfrm>
            <a:off x="4754880" y="21031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Pod Security restricted</a:t>
            </a:r>
            <a:endParaRPr lang="en-US" sz="1100" dirty="0"/>
          </a:p>
        </p:txBody>
      </p:sp>
      <p:sp>
        <p:nvSpPr>
          <p:cNvPr id="18" name="chip NetworkPolicy to Postgres"/>
          <p:cNvSpPr/>
          <p:nvPr/>
        </p:nvSpPr>
        <p:spPr>
          <a:xfrm>
            <a:off x="6766560" y="2103120"/>
            <a:ext cx="1874520" cy="329184"/>
          </a:xfrm>
          <a:prstGeom prst="roundRect">
            <a:avLst>
              <a:gd name="adj" fmla="val 50000"/>
            </a:avLst>
          </a:prstGeom>
          <a:solidFill>
            <a:schemeClr val="bg2"/>
          </a:solidFill>
          <a:ln w="12700">
            <a:solidFill>
              <a:schemeClr val="bg2"/>
            </a:solidFill>
            <a:prstDash val="solid"/>
          </a:ln>
        </p:spPr>
      </p:sp>
      <p:sp>
        <p:nvSpPr>
          <p:cNvPr id="19" name="Text 17"/>
          <p:cNvSpPr txBox="1"/>
          <p:nvPr/>
        </p:nvSpPr>
        <p:spPr>
          <a:xfrm>
            <a:off x="6766560" y="21031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NetworkPolicy to Postgres</a:t>
            </a:r>
            <a:endParaRPr lang="en-US" sz="1100" dirty="0"/>
          </a:p>
        </p:txBody>
      </p:sp>
      <p:sp>
        <p:nvSpPr>
          <p:cNvPr id="20" name="chip OIDC, no AWS keys"/>
          <p:cNvSpPr/>
          <p:nvPr/>
        </p:nvSpPr>
        <p:spPr>
          <a:xfrm>
            <a:off x="4754880" y="2560320"/>
            <a:ext cx="1874520" cy="329184"/>
          </a:xfrm>
          <a:prstGeom prst="roundRect">
            <a:avLst>
              <a:gd name="adj" fmla="val 50000"/>
            </a:avLst>
          </a:prstGeom>
          <a:solidFill>
            <a:schemeClr val="bg2"/>
          </a:solidFill>
          <a:ln w="12700">
            <a:solidFill>
              <a:schemeClr val="bg2"/>
            </a:solidFill>
            <a:prstDash val="solid"/>
          </a:ln>
        </p:spPr>
      </p:sp>
      <p:sp>
        <p:nvSpPr>
          <p:cNvPr id="21" name="Text 19"/>
          <p:cNvSpPr txBox="1"/>
          <p:nvPr/>
        </p:nvSpPr>
        <p:spPr>
          <a:xfrm>
            <a:off x="4754880" y="25603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OIDC, no AWS keys</a:t>
            </a:r>
            <a:endParaRPr lang="en-US" sz="1100" dirty="0"/>
          </a:p>
        </p:txBody>
      </p:sp>
      <p:sp>
        <p:nvSpPr>
          <p:cNvPr id="22" name="chip DB password in a Secret"/>
          <p:cNvSpPr/>
          <p:nvPr/>
        </p:nvSpPr>
        <p:spPr>
          <a:xfrm>
            <a:off x="6766560" y="2560320"/>
            <a:ext cx="1874520" cy="329184"/>
          </a:xfrm>
          <a:prstGeom prst="roundRect">
            <a:avLst>
              <a:gd name="adj" fmla="val 50000"/>
            </a:avLst>
          </a:prstGeom>
          <a:solidFill>
            <a:schemeClr val="bg2"/>
          </a:solidFill>
          <a:ln w="12700">
            <a:solidFill>
              <a:schemeClr val="bg2"/>
            </a:solidFill>
            <a:prstDash val="solid"/>
          </a:ln>
        </p:spPr>
      </p:sp>
      <p:sp>
        <p:nvSpPr>
          <p:cNvPr id="23" name="Text 21"/>
          <p:cNvSpPr txBox="1"/>
          <p:nvPr/>
        </p:nvSpPr>
        <p:spPr>
          <a:xfrm>
            <a:off x="6766560" y="2560320"/>
            <a:ext cx="1874520" cy="329184"/>
          </a:xfrm>
          <a:prstGeom prst="rect">
            <a:avLst/>
          </a:prstGeom>
          <a:noFill/>
          <a:ln/>
        </p:spPr>
        <p:txBody>
          <a:bodyPr wrap="square" lIns="0" tIns="0" rIns="0" bIns="0" rtlCol="0" anchor="ctr"/>
          <a:lstStyle/>
          <a:p>
            <a:pPr algn="ctr" indent="0" marL="0">
              <a:buNone/>
            </a:pPr>
            <a:r>
              <a:rPr lang="en-US" sz="1100" dirty="0">
                <a:solidFill>
                  <a:schemeClr val="tx1"/>
                </a:solidFill>
              </a:rPr>
              <a:t>DB password in a Secret</a:t>
            </a:r>
            <a:endParaRPr lang="en-US" sz="1100" dirty="0"/>
          </a:p>
        </p:txBody>
      </p:sp>
      <p:sp>
        <p:nvSpPr>
          <p:cNvPr id="24" name="Strict Trivy gate failing the old image frame"/>
          <p:cNvSpPr/>
          <p:nvPr/>
        </p:nvSpPr>
        <p:spPr>
          <a:xfrm>
            <a:off x="4754880" y="3108960"/>
            <a:ext cx="393192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25" name="Strict Trivy gate failing the old image" descr="Strict Trivy gate failing the old image">    </p:cNvPr>
          <p:cNvPicPr>
            <a:picLocks noChangeAspect="1"/>
          </p:cNvPicPr>
          <p:nvPr/>
        </p:nvPicPr>
        <p:blipFill>
          <a:blip r:embed="rId1"/>
          <a:stretch>
            <a:fillRect/>
          </a:stretch>
        </p:blipFill>
        <p:spPr>
          <a:xfrm>
            <a:off x="4818888" y="3197160"/>
            <a:ext cx="3803904" cy="1149481"/>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AWS built and destroyed with Terraform</a:t>
            </a:r>
            <a:endParaRPr lang="en-US" sz="3000" dirty="0"/>
          </a:p>
        </p:txBody>
      </p:sp>
      <p:sp>
        <p:nvSpPr>
          <p:cNvPr id="3" name="Text 1"/>
          <p:cNvSpPr txBox="1"/>
          <p:nvPr/>
        </p:nvSpPr>
        <p:spPr>
          <a:xfrm>
            <a:off x="457200" y="1097280"/>
            <a:ext cx="182880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66</a:t>
            </a:r>
            <a:endParaRPr lang="en-US" sz="3400" dirty="0"/>
          </a:p>
        </p:txBody>
      </p:sp>
      <p:sp>
        <p:nvSpPr>
          <p:cNvPr id="4" name="Text 2"/>
          <p:cNvSpPr txBox="1"/>
          <p:nvPr/>
        </p:nvSpPr>
        <p:spPr>
          <a:xfrm>
            <a:off x="457200" y="1645920"/>
            <a:ext cx="1828800" cy="411480"/>
          </a:xfrm>
          <a:prstGeom prst="rect">
            <a:avLst/>
          </a:prstGeom>
          <a:noFill/>
          <a:ln/>
        </p:spPr>
        <p:txBody>
          <a:bodyPr wrap="square" lIns="0" tIns="0" rIns="0" bIns="0" rtlCol="0" anchor="t"/>
          <a:lstStyle/>
          <a:p>
            <a:pPr indent="0" marL="0">
              <a:buNone/>
            </a:pPr>
            <a:r>
              <a:rPr lang="en-US" sz="1200" dirty="0">
                <a:solidFill>
                  <a:schemeClr val="accent6"/>
                </a:solidFill>
              </a:rPr>
              <a:t>resources from one reviewed plan</a:t>
            </a:r>
            <a:endParaRPr lang="en-US" sz="1200" dirty="0"/>
          </a:p>
        </p:txBody>
      </p:sp>
      <p:sp>
        <p:nvSpPr>
          <p:cNvPr id="5" name="Text 3"/>
          <p:cNvSpPr txBox="1"/>
          <p:nvPr/>
        </p:nvSpPr>
        <p:spPr>
          <a:xfrm>
            <a:off x="2377440" y="1097280"/>
            <a:ext cx="182880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2 + 2</a:t>
            </a:r>
            <a:endParaRPr lang="en-US" sz="3400" dirty="0"/>
          </a:p>
        </p:txBody>
      </p:sp>
      <p:sp>
        <p:nvSpPr>
          <p:cNvPr id="6" name="Text 4"/>
          <p:cNvSpPr txBox="1"/>
          <p:nvPr/>
        </p:nvSpPr>
        <p:spPr>
          <a:xfrm>
            <a:off x="2377440" y="1645920"/>
            <a:ext cx="1828800" cy="411480"/>
          </a:xfrm>
          <a:prstGeom prst="rect">
            <a:avLst/>
          </a:prstGeom>
          <a:noFill/>
          <a:ln/>
        </p:spPr>
        <p:txBody>
          <a:bodyPr wrap="square" lIns="0" tIns="0" rIns="0" bIns="0" rtlCol="0" anchor="t"/>
          <a:lstStyle/>
          <a:p>
            <a:pPr indent="0" marL="0">
              <a:buNone/>
            </a:pPr>
            <a:r>
              <a:rPr lang="en-US" sz="1200" dirty="0">
                <a:solidFill>
                  <a:schemeClr val="accent6"/>
                </a:solidFill>
              </a:rPr>
              <a:t>public and private subnets in 2 zones</a:t>
            </a:r>
            <a:endParaRPr lang="en-US" sz="1200" dirty="0"/>
          </a:p>
        </p:txBody>
      </p:sp>
      <p:sp>
        <p:nvSpPr>
          <p:cNvPr id="7" name="Text 5"/>
          <p:cNvSpPr txBox="1"/>
          <p:nvPr/>
        </p:nvSpPr>
        <p:spPr>
          <a:xfrm>
            <a:off x="457200" y="2148840"/>
            <a:ext cx="1828800" cy="548640"/>
          </a:xfrm>
          <a:prstGeom prst="rect">
            <a:avLst/>
          </a:prstGeom>
          <a:noFill/>
          <a:ln/>
        </p:spPr>
        <p:txBody>
          <a:bodyPr wrap="square" lIns="0" tIns="0" rIns="0" bIns="0" rtlCol="0" anchor="ctr"/>
          <a:lstStyle/>
          <a:p>
            <a:pPr indent="0" marL="0">
              <a:buNone/>
            </a:pPr>
            <a:r>
              <a:rPr lang="en-US" sz="3400" b="1" dirty="0">
                <a:solidFill>
                  <a:schemeClr val="accent4"/>
                </a:solidFill>
                <a:latin typeface="Cambria" pitchFamily="34" charset="0"/>
                <a:ea typeface="Cambria" pitchFamily="34" charset="-122"/>
                <a:cs typeface="Cambria" pitchFamily="34" charset="-120"/>
              </a:rPr>
              <a:t>EKS 1.35</a:t>
            </a:r>
            <a:endParaRPr lang="en-US" sz="3400" dirty="0"/>
          </a:p>
        </p:txBody>
      </p:sp>
      <p:sp>
        <p:nvSpPr>
          <p:cNvPr id="8" name="Text 6"/>
          <p:cNvSpPr txBox="1"/>
          <p:nvPr/>
        </p:nvSpPr>
        <p:spPr>
          <a:xfrm>
            <a:off x="457200" y="2697480"/>
            <a:ext cx="1828800" cy="411480"/>
          </a:xfrm>
          <a:prstGeom prst="rect">
            <a:avLst/>
          </a:prstGeom>
          <a:noFill/>
          <a:ln/>
        </p:spPr>
        <p:txBody>
          <a:bodyPr wrap="square" lIns="0" tIns="0" rIns="0" bIns="0" rtlCol="0" anchor="t"/>
          <a:lstStyle/>
          <a:p>
            <a:pPr indent="0" marL="0">
              <a:buNone/>
            </a:pPr>
            <a:r>
              <a:rPr lang="en-US" sz="1200" dirty="0">
                <a:solidFill>
                  <a:schemeClr val="accent6"/>
                </a:solidFill>
              </a:rPr>
              <a:t>node group and six add-ons</a:t>
            </a:r>
            <a:endParaRPr lang="en-US" sz="1200" dirty="0"/>
          </a:p>
        </p:txBody>
      </p:sp>
      <p:sp>
        <p:nvSpPr>
          <p:cNvPr id="9" name="Text 7"/>
          <p:cNvSpPr txBox="1"/>
          <p:nvPr/>
        </p:nvSpPr>
        <p:spPr>
          <a:xfrm>
            <a:off x="2377440" y="2148840"/>
            <a:ext cx="1828800" cy="54864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 $0.50</a:t>
            </a:r>
            <a:endParaRPr lang="en-US" sz="3400" dirty="0"/>
          </a:p>
        </p:txBody>
      </p:sp>
      <p:sp>
        <p:nvSpPr>
          <p:cNvPr id="10" name="Text 8"/>
          <p:cNvSpPr txBox="1"/>
          <p:nvPr/>
        </p:nvSpPr>
        <p:spPr>
          <a:xfrm>
            <a:off x="2377440" y="2697480"/>
            <a:ext cx="1828800" cy="411480"/>
          </a:xfrm>
          <a:prstGeom prst="rect">
            <a:avLst/>
          </a:prstGeom>
          <a:noFill/>
          <a:ln/>
        </p:spPr>
        <p:txBody>
          <a:bodyPr wrap="square" lIns="0" tIns="0" rIns="0" bIns="0" rtlCol="0" anchor="t"/>
          <a:lstStyle/>
          <a:p>
            <a:pPr indent="0" marL="0">
              <a:buNone/>
            </a:pPr>
            <a:r>
              <a:rPr lang="en-US" sz="1200" dirty="0">
                <a:solidFill>
                  <a:schemeClr val="accent6"/>
                </a:solidFill>
              </a:rPr>
              <a:t>one hour of running, then destroy</a:t>
            </a:r>
            <a:endParaRPr lang="en-US" sz="1200" dirty="0"/>
          </a:p>
        </p:txBody>
      </p:sp>
      <p:sp>
        <p:nvSpPr>
          <p:cNvPr id="11" name="Text 9"/>
          <p:cNvSpPr txBox="1"/>
          <p:nvPr/>
        </p:nvSpPr>
        <p:spPr>
          <a:xfrm>
            <a:off x="457200" y="3246120"/>
            <a:ext cx="3749040" cy="1188720"/>
          </a:xfrm>
          <a:prstGeom prst="rect">
            <a:avLst/>
          </a:prstGeom>
          <a:noFill/>
          <a:ln/>
        </p:spPr>
        <p:txBody>
          <a:bodyPr wrap="square" lIns="0" tIns="0" rIns="0" bIns="0" rtlCol="0" anchor="t"/>
          <a:lstStyle/>
          <a:p>
            <a:pPr indent="0" marL="0">
              <a:buNone/>
            </a:pPr>
            <a:r>
              <a:rPr lang="en-US" sz="1200" dirty="0">
                <a:solidFill>
                  <a:schemeClr val="accent4"/>
                </a:solidFill>
              </a:rPr>
              <a:t>VPC with NAT gateway, KMS-encrypted secrets, S3 remote state, GitHub OIDC deploy role. Every apply and destroy ran from a saved plan. Region ap-southeast-2: the account’s organization policy allows only that region.</a:t>
            </a:r>
            <a:endParaRPr lang="en-US" sz="1200" dirty="0"/>
          </a:p>
        </p:txBody>
      </p:sp>
      <p:sp>
        <p:nvSpPr>
          <p:cNvPr id="12" name="EKS cluster active in the AWS Console frame"/>
          <p:cNvSpPr/>
          <p:nvPr/>
        </p:nvSpPr>
        <p:spPr>
          <a:xfrm>
            <a:off x="4434840" y="1097280"/>
            <a:ext cx="4251960" cy="2743200"/>
          </a:xfrm>
          <a:prstGeom prst="roundRect">
            <a:avLst>
              <a:gd name="adj" fmla="val 2667"/>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3" name="EKS cluster active in the AWS Console" descr="EKS cluster active in the AWS Console">    </p:cNvPr>
          <p:cNvPicPr>
            <a:picLocks noChangeAspect="1"/>
          </p:cNvPicPr>
          <p:nvPr/>
        </p:nvPicPr>
        <p:blipFill>
          <a:blip r:embed="rId1"/>
          <a:stretch>
            <a:fillRect/>
          </a:stretch>
        </p:blipFill>
        <p:spPr>
          <a:xfrm>
            <a:off x="4498848" y="1180147"/>
            <a:ext cx="4123944" cy="2577465"/>
          </a:xfrm>
          <a:prstGeom prst="rect">
            <a:avLst/>
          </a:prstGeom>
        </p:spPr>
      </p:pic>
      <p:sp>
        <p:nvSpPr>
          <p:cNvPr id="14" name="Text 11"/>
          <p:cNvSpPr txBox="1"/>
          <p:nvPr/>
        </p:nvSpPr>
        <p:spPr>
          <a:xfrm>
            <a:off x="4434840" y="3977640"/>
            <a:ext cx="4251960" cy="320040"/>
          </a:xfrm>
          <a:prstGeom prst="rect">
            <a:avLst/>
          </a:prstGeom>
          <a:noFill/>
          <a:ln/>
        </p:spPr>
        <p:txBody>
          <a:bodyPr wrap="square" lIns="0" tIns="0" rIns="0" bIns="0" rtlCol="0" anchor="ctr"/>
          <a:lstStyle/>
          <a:p>
            <a:pPr indent="0" marL="0">
              <a:buNone/>
            </a:pPr>
            <a:r>
              <a:rPr lang="en-US" sz="1200" dirty="0">
                <a:solidFill>
                  <a:schemeClr val="accent6"/>
                </a:solidFill>
              </a:rPr>
              <a:t>terraform destroy: 66 destroyed, then nothing left to bill</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One Helm chart, from laptop to EKS</a:t>
            </a:r>
            <a:endParaRPr lang="en-US" sz="3000" dirty="0"/>
          </a:p>
        </p:txBody>
      </p:sp>
      <p:sp>
        <p:nvSpPr>
          <p:cNvPr id="3" name="marker 1"/>
          <p:cNvSpPr/>
          <p:nvPr/>
        </p:nvSpPr>
        <p:spPr>
          <a:xfrm>
            <a:off x="457200" y="114300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088136"/>
            <a:ext cx="3474720" cy="685800"/>
          </a:xfrm>
          <a:prstGeom prst="rect">
            <a:avLst/>
          </a:prstGeom>
          <a:noFill/>
          <a:ln/>
        </p:spPr>
        <p:txBody>
          <a:bodyPr wrap="square" lIns="0" tIns="0" rIns="0" bIns="0" rtlCol="0" anchor="t"/>
          <a:lstStyle/>
          <a:p>
            <a:pPr indent="0" marL="0">
              <a:buNone/>
            </a:pPr>
            <a:r>
              <a:rPr lang="en-US" sz="1500" b="1" dirty="0">
                <a:solidFill>
                  <a:schemeClr val="tx1"/>
                </a:solidFill>
              </a:rPr>
              <a:t>Scales under load</a:t>
            </a:r>
            <a:endParaRPr lang="en-US" sz="1500" dirty="0"/>
          </a:p>
          <a:p>
            <a:pPr indent="0" marL="0">
              <a:buNone/>
            </a:pPr>
            <a:r>
              <a:rPr lang="en-US" sz="1300" dirty="0">
                <a:solidFill>
                  <a:schemeClr val="accent4"/>
                </a:solidFill>
              </a:rPr>
              <a:t>HPA took the backend from 2 to 6 pods during a load test</a:t>
            </a:r>
            <a:endParaRPr lang="en-US" sz="1500" dirty="0"/>
          </a:p>
        </p:txBody>
      </p:sp>
      <p:sp>
        <p:nvSpPr>
          <p:cNvPr id="6" name="marker 2"/>
          <p:cNvSpPr/>
          <p:nvPr/>
        </p:nvSpPr>
        <p:spPr>
          <a:xfrm>
            <a:off x="457200" y="192024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45720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05840" y="1865376"/>
            <a:ext cx="3474720" cy="685800"/>
          </a:xfrm>
          <a:prstGeom prst="rect">
            <a:avLst/>
          </a:prstGeom>
          <a:noFill/>
          <a:ln/>
        </p:spPr>
        <p:txBody>
          <a:bodyPr wrap="square" lIns="0" tIns="0" rIns="0" bIns="0" rtlCol="0" anchor="t"/>
          <a:lstStyle/>
          <a:p>
            <a:pPr indent="0" marL="0">
              <a:buNone/>
            </a:pPr>
            <a:r>
              <a:rPr lang="en-US" sz="1500" b="1" dirty="0">
                <a:solidFill>
                  <a:schemeClr val="tx1"/>
                </a:solidFill>
              </a:rPr>
              <a:t>Migrations without races</a:t>
            </a:r>
            <a:endParaRPr lang="en-US" sz="1500" dirty="0"/>
          </a:p>
          <a:p>
            <a:pPr indent="0" marL="0">
              <a:buNone/>
            </a:pPr>
            <a:r>
              <a:rPr lang="en-US" sz="1300" dirty="0">
                <a:solidFill>
                  <a:schemeClr val="accent4"/>
                </a:solidFill>
              </a:rPr>
              <a:t>init container + PostgreSQL advisory lock; rolling updates with no downtime</a:t>
            </a:r>
            <a:endParaRPr lang="en-US" sz="1500" dirty="0"/>
          </a:p>
        </p:txBody>
      </p:sp>
      <p:sp>
        <p:nvSpPr>
          <p:cNvPr id="9" name="marker 3"/>
          <p:cNvSpPr/>
          <p:nvPr/>
        </p:nvSpPr>
        <p:spPr>
          <a:xfrm>
            <a:off x="457200" y="26974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697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05840" y="2642616"/>
            <a:ext cx="3474720" cy="685800"/>
          </a:xfrm>
          <a:prstGeom prst="rect">
            <a:avLst/>
          </a:prstGeom>
          <a:noFill/>
          <a:ln/>
        </p:spPr>
        <p:txBody>
          <a:bodyPr wrap="square" lIns="0" tIns="0" rIns="0" bIns="0" rtlCol="0" anchor="t"/>
          <a:lstStyle/>
          <a:p>
            <a:pPr indent="0" marL="0">
              <a:buNone/>
            </a:pPr>
            <a:r>
              <a:rPr lang="en-US" sz="1500" b="1" dirty="0">
                <a:solidFill>
                  <a:schemeClr val="tx1"/>
                </a:solidFill>
              </a:rPr>
              <a:t>Locked down</a:t>
            </a:r>
            <a:endParaRPr lang="en-US" sz="1500" dirty="0"/>
          </a:p>
          <a:p>
            <a:pPr indent="0" marL="0">
              <a:buNone/>
            </a:pPr>
            <a:r>
              <a:rPr lang="en-US" sz="1300" dirty="0">
                <a:solidFill>
                  <a:schemeClr val="accent4"/>
                </a:solidFill>
              </a:rPr>
              <a:t>Pod Security restricted; only labelled clients reach Postgres</a:t>
            </a:r>
            <a:endParaRPr lang="en-US" sz="1500" dirty="0"/>
          </a:p>
        </p:txBody>
      </p:sp>
      <p:sp>
        <p:nvSpPr>
          <p:cNvPr id="12" name="marker 4"/>
          <p:cNvSpPr/>
          <p:nvPr/>
        </p:nvSpPr>
        <p:spPr>
          <a:xfrm>
            <a:off x="457200" y="347472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45720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05840" y="3419856"/>
            <a:ext cx="3474720" cy="685800"/>
          </a:xfrm>
          <a:prstGeom prst="rect">
            <a:avLst/>
          </a:prstGeom>
          <a:noFill/>
          <a:ln/>
        </p:spPr>
        <p:txBody>
          <a:bodyPr wrap="square" lIns="0" tIns="0" rIns="0" bIns="0" rtlCol="0" anchor="t"/>
          <a:lstStyle/>
          <a:p>
            <a:pPr indent="0" marL="0">
              <a:buNone/>
            </a:pPr>
            <a:r>
              <a:rPr lang="en-US" sz="1500" b="1" dirty="0">
                <a:solidFill>
                  <a:schemeClr val="tx1"/>
                </a:solidFill>
              </a:rPr>
              <a:t>Recoverable</a:t>
            </a:r>
            <a:endParaRPr lang="en-US" sz="1500" dirty="0"/>
          </a:p>
          <a:p>
            <a:pPr indent="0" marL="0">
              <a:buNone/>
            </a:pPr>
            <a:r>
              <a:rPr lang="en-US" sz="1300" dirty="0">
                <a:solidFill>
                  <a:schemeClr val="accent4"/>
                </a:solidFill>
              </a:rPr>
              <a:t>nightly pg_dump CronJob, Helm rollback, 6 failure drills</a:t>
            </a:r>
            <a:endParaRPr lang="en-US" sz="1500" dirty="0"/>
          </a:p>
        </p:txBody>
      </p:sp>
      <p:sp>
        <p:nvSpPr>
          <p:cNvPr id="15" name="HPA scaled the backend to 6 replicas frame"/>
          <p:cNvSpPr/>
          <p:nvPr/>
        </p:nvSpPr>
        <p:spPr>
          <a:xfrm>
            <a:off x="4617720" y="1097280"/>
            <a:ext cx="406908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6" name="HPA scaled the backend to 6 replicas" descr="HPA scaled the backend to 6 replicas">    </p:cNvPr>
          <p:cNvPicPr>
            <a:picLocks noChangeAspect="1"/>
          </p:cNvPicPr>
          <p:nvPr/>
        </p:nvPicPr>
        <p:blipFill>
          <a:blip r:embed="rId1"/>
          <a:stretch>
            <a:fillRect/>
          </a:stretch>
        </p:blipFill>
        <p:spPr>
          <a:xfrm>
            <a:off x="4728459" y="1161288"/>
            <a:ext cx="3847602" cy="2706624"/>
          </a:xfrm>
          <a:prstGeom prst="rect">
            <a:avLst/>
          </a:prstGeom>
        </p:spPr>
      </p:pic>
      <p:sp>
        <p:nvSpPr>
          <p:cNvPr id="17" name="Text 14"/>
          <p:cNvSpPr txBox="1"/>
          <p:nvPr/>
        </p:nvSpPr>
        <p:spPr>
          <a:xfrm>
            <a:off x="4617720" y="4069080"/>
            <a:ext cx="4069080" cy="411480"/>
          </a:xfrm>
          <a:prstGeom prst="rect">
            <a:avLst/>
          </a:prstGeom>
          <a:noFill/>
          <a:ln/>
        </p:spPr>
        <p:txBody>
          <a:bodyPr wrap="square" lIns="0" tIns="0" rIns="0" bIns="0" rtlCol="0" anchor="ctr"/>
          <a:lstStyle/>
          <a:p>
            <a:pPr indent="0" marL="0">
              <a:buNone/>
            </a:pPr>
            <a:r>
              <a:rPr lang="en-US" sz="1100" dirty="0">
                <a:solidFill>
                  <a:schemeClr val="accent6"/>
                </a:solidFill>
              </a:rPr>
              <a:t>Same chart: kind values locally, EKS values on AWS (gp3 volumes, Network Load Balancer)</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Metrics that matter to a blood bank</a:t>
            </a:r>
            <a:endParaRPr lang="en-US" sz="3000" dirty="0"/>
          </a:p>
        </p:txBody>
      </p:sp>
      <p:sp>
        <p:nvSpPr>
          <p:cNvPr id="3" name="marker 1"/>
          <p:cNvSpPr/>
          <p:nvPr/>
        </p:nvSpPr>
        <p:spPr>
          <a:xfrm>
            <a:off x="457200" y="1188720"/>
            <a:ext cx="384048" cy="384048"/>
          </a:xfrm>
          <a:prstGeom prst="ellipse">
            <a:avLst/>
          </a:prstGeom>
          <a:solidFill>
            <a:schemeClr val="accent2"/>
          </a:solidFill>
          <a:ln w="12700">
            <a:solidFill>
              <a:schemeClr val="accent2"/>
            </a:solidFill>
            <a:prstDash val="solid"/>
          </a:ln>
        </p:spPr>
      </p:sp>
      <p:sp>
        <p:nvSpPr>
          <p:cNvPr id="4" name="Text 2"/>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133856"/>
            <a:ext cx="3108960" cy="777240"/>
          </a:xfrm>
          <a:prstGeom prst="rect">
            <a:avLst/>
          </a:prstGeom>
          <a:noFill/>
          <a:ln/>
        </p:spPr>
        <p:txBody>
          <a:bodyPr wrap="square" lIns="0" tIns="0" rIns="0" bIns="0" rtlCol="0" anchor="t"/>
          <a:lstStyle/>
          <a:p>
            <a:pPr indent="0" marL="0">
              <a:buNone/>
            </a:pPr>
            <a:r>
              <a:rPr lang="en-US" sz="1500" b="1" dirty="0">
                <a:solidFill>
                  <a:schemeClr val="tx1"/>
                </a:solidFill>
              </a:rPr>
              <a:t>Business metrics</a:t>
            </a:r>
            <a:endParaRPr lang="en-US" sz="1500" dirty="0"/>
          </a:p>
          <a:p>
            <a:pPr indent="0" marL="0">
              <a:buNone/>
            </a:pPr>
            <a:r>
              <a:rPr lang="en-US" sz="1300" dirty="0">
                <a:solidFill>
                  <a:schemeClr val="accent4"/>
                </a:solidFill>
              </a:rPr>
              <a:t>stock per group, units expiring, fulfilment time</a:t>
            </a:r>
            <a:endParaRPr lang="en-US" sz="1500" dirty="0"/>
          </a:p>
        </p:txBody>
      </p:sp>
      <p:sp>
        <p:nvSpPr>
          <p:cNvPr id="6" name="marker 2"/>
          <p:cNvSpPr/>
          <p:nvPr/>
        </p:nvSpPr>
        <p:spPr>
          <a:xfrm>
            <a:off x="457200" y="2057400"/>
            <a:ext cx="384048" cy="384048"/>
          </a:xfrm>
          <a:prstGeom prst="ellipse">
            <a:avLst/>
          </a:prstGeom>
          <a:solidFill>
            <a:schemeClr val="accent2"/>
          </a:solidFill>
          <a:ln w="12700">
            <a:solidFill>
              <a:schemeClr val="accent2"/>
            </a:solidFill>
            <a:prstDash val="solid"/>
          </a:ln>
        </p:spPr>
      </p:sp>
      <p:sp>
        <p:nvSpPr>
          <p:cNvPr id="7" name="Text 5"/>
          <p:cNvSpPr txBox="1"/>
          <p:nvPr/>
        </p:nvSpPr>
        <p:spPr>
          <a:xfrm>
            <a:off x="457200" y="2057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05840" y="2002536"/>
            <a:ext cx="3108960" cy="777240"/>
          </a:xfrm>
          <a:prstGeom prst="rect">
            <a:avLst/>
          </a:prstGeom>
          <a:noFill/>
          <a:ln/>
        </p:spPr>
        <p:txBody>
          <a:bodyPr wrap="square" lIns="0" tIns="0" rIns="0" bIns="0" rtlCol="0" anchor="t"/>
          <a:lstStyle/>
          <a:p>
            <a:pPr indent="0" marL="0">
              <a:buNone/>
            </a:pPr>
            <a:r>
              <a:rPr lang="en-US" sz="1500" b="1" dirty="0">
                <a:solidFill>
                  <a:schemeClr val="tx1"/>
                </a:solidFill>
              </a:rPr>
              <a:t>API health</a:t>
            </a:r>
            <a:endParaRPr lang="en-US" sz="1500" dirty="0"/>
          </a:p>
          <a:p>
            <a:pPr indent="0" marL="0">
              <a:buNone/>
            </a:pPr>
            <a:r>
              <a:rPr lang="en-US" sz="1300" dirty="0">
                <a:solidFill>
                  <a:schemeClr val="accent4"/>
                </a:solidFill>
              </a:rPr>
              <a:t>requests, error rate, p95 latency per route</a:t>
            </a:r>
            <a:endParaRPr lang="en-US" sz="1500" dirty="0"/>
          </a:p>
        </p:txBody>
      </p:sp>
      <p:sp>
        <p:nvSpPr>
          <p:cNvPr id="9" name="marker 3"/>
          <p:cNvSpPr/>
          <p:nvPr/>
        </p:nvSpPr>
        <p:spPr>
          <a:xfrm>
            <a:off x="457200" y="2926080"/>
            <a:ext cx="384048" cy="384048"/>
          </a:xfrm>
          <a:prstGeom prst="ellipse">
            <a:avLst/>
          </a:prstGeom>
          <a:solidFill>
            <a:schemeClr val="accent2"/>
          </a:solidFill>
          <a:ln w="12700">
            <a:solidFill>
              <a:schemeClr val="accent2"/>
            </a:solidFill>
            <a:prstDash val="solid"/>
          </a:ln>
        </p:spPr>
      </p:sp>
      <p:sp>
        <p:nvSpPr>
          <p:cNvPr id="10" name="Text 8"/>
          <p:cNvSpPr txBox="1"/>
          <p:nvPr/>
        </p:nvSpPr>
        <p:spPr>
          <a:xfrm>
            <a:off x="457200" y="2926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05840" y="2871216"/>
            <a:ext cx="3108960" cy="777240"/>
          </a:xfrm>
          <a:prstGeom prst="rect">
            <a:avLst/>
          </a:prstGeom>
          <a:noFill/>
          <a:ln/>
        </p:spPr>
        <p:txBody>
          <a:bodyPr wrap="square" lIns="0" tIns="0" rIns="0" bIns="0" rtlCol="0" anchor="t"/>
          <a:lstStyle/>
          <a:p>
            <a:pPr indent="0" marL="0">
              <a:buNone/>
            </a:pPr>
            <a:r>
              <a:rPr lang="en-US" sz="1500" b="1" dirty="0">
                <a:solidFill>
                  <a:schemeClr val="tx1"/>
                </a:solidFill>
              </a:rPr>
              <a:t>7 alert rules</a:t>
            </a:r>
            <a:endParaRPr lang="en-US" sz="1500" dirty="0"/>
          </a:p>
          <a:p>
            <a:pPr indent="0" marL="0">
              <a:buNone/>
            </a:pPr>
            <a:r>
              <a:rPr lang="en-US" sz="1300" dirty="0">
                <a:solidFill>
                  <a:schemeClr val="accent4"/>
                </a:solidFill>
              </a:rPr>
              <a:t>critical stock and emergency backlog fire on real data</a:t>
            </a:r>
            <a:endParaRPr lang="en-US" sz="1500" dirty="0"/>
          </a:p>
        </p:txBody>
      </p:sp>
      <p:sp>
        <p:nvSpPr>
          <p:cNvPr id="12" name="Text 10"/>
          <p:cNvSpPr txBox="1"/>
          <p:nvPr/>
        </p:nvSpPr>
        <p:spPr>
          <a:xfrm>
            <a:off x="457200" y="3794760"/>
            <a:ext cx="3657600" cy="640080"/>
          </a:xfrm>
          <a:prstGeom prst="rect">
            <a:avLst/>
          </a:prstGeom>
          <a:noFill/>
          <a:ln/>
        </p:spPr>
        <p:txBody>
          <a:bodyPr wrap="square" lIns="0" tIns="0" rIns="0" bIns="0" rtlCol="0" anchor="t"/>
          <a:lstStyle/>
          <a:p>
            <a:pPr indent="0" marL="0">
              <a:buNone/>
            </a:pPr>
            <a:r>
              <a:rPr lang="en-US" sz="1200" dirty="0">
                <a:solidFill>
                  <a:schemeClr val="accent4"/>
                </a:solidFill>
              </a:rPr>
              <a:t>Prometheus scrapes every backend pod through a ServiceMonitor; the Grafana dashboard ships in the Helm chart.</a:t>
            </a:r>
            <a:endParaRPr lang="en-US" sz="1200" dirty="0"/>
          </a:p>
        </p:txBody>
      </p:sp>
      <p:sp>
        <p:nvSpPr>
          <p:cNvPr id="13" name="Grafana dashboard with live data frame"/>
          <p:cNvSpPr/>
          <p:nvPr/>
        </p:nvSpPr>
        <p:spPr>
          <a:xfrm>
            <a:off x="4343400" y="1051560"/>
            <a:ext cx="434340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4" name="Grafana dashboard with live data" descr="Grafana dashboard with live data">    </p:cNvPr>
          <p:cNvPicPr>
            <a:picLocks noChangeAspect="1"/>
          </p:cNvPicPr>
          <p:nvPr/>
        </p:nvPicPr>
        <p:blipFill>
          <a:blip r:embed="rId1"/>
          <a:stretch>
            <a:fillRect/>
          </a:stretch>
        </p:blipFill>
        <p:spPr>
          <a:xfrm>
            <a:off x="4558961" y="1115568"/>
            <a:ext cx="3912277" cy="3300984"/>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Live demo: commit → pipeline → deployment</a:t>
            </a:r>
            <a:endParaRPr lang="en-US" sz="3000" dirty="0"/>
          </a:p>
        </p:txBody>
      </p:sp>
      <p:sp>
        <p:nvSpPr>
          <p:cNvPr id="3" name="marker 1"/>
          <p:cNvSpPr/>
          <p:nvPr/>
        </p:nvSpPr>
        <p:spPr>
          <a:xfrm>
            <a:off x="457200" y="1188720"/>
            <a:ext cx="384048" cy="384048"/>
          </a:xfrm>
          <a:prstGeom prst="ellipse">
            <a:avLst/>
          </a:prstGeom>
          <a:solidFill>
            <a:srgbClr val="B3152B"/>
          </a:solidFill>
          <a:ln w="12700">
            <a:solidFill>
              <a:srgbClr val="B3152B"/>
            </a:solidFill>
            <a:prstDash val="solid"/>
          </a:ln>
        </p:spPr>
      </p:sp>
      <p:sp>
        <p:nvSpPr>
          <p:cNvPr id="4" name="Text 2"/>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960120" y="1143000"/>
            <a:ext cx="1508760" cy="822960"/>
          </a:xfrm>
          <a:prstGeom prst="rect">
            <a:avLst/>
          </a:prstGeom>
          <a:noFill/>
          <a:ln/>
        </p:spPr>
        <p:txBody>
          <a:bodyPr wrap="square" lIns="0" tIns="0" rIns="0" bIns="0" rtlCol="0" anchor="t"/>
          <a:lstStyle/>
          <a:p>
            <a:pPr indent="0" marL="0">
              <a:buNone/>
            </a:pPr>
            <a:r>
              <a:rPr lang="en-US" sz="1500" b="1" dirty="0">
                <a:solidFill>
                  <a:schemeClr val="tx1"/>
                </a:solidFill>
              </a:rPr>
              <a:t>Commit</a:t>
            </a:r>
            <a:endParaRPr lang="en-US" sz="1500" dirty="0"/>
          </a:p>
          <a:p>
            <a:pPr indent="0" marL="0">
              <a:buNone/>
            </a:pPr>
            <a:r>
              <a:rPr lang="en-US" sz="1200" dirty="0">
                <a:solidFill>
                  <a:schemeClr val="accent4"/>
                </a:solidFill>
              </a:rPr>
              <a:t>push a change to main</a:t>
            </a:r>
            <a:endParaRPr lang="en-US" sz="1500" dirty="0"/>
          </a:p>
        </p:txBody>
      </p:sp>
      <p:sp>
        <p:nvSpPr>
          <p:cNvPr id="6" name="marker 2"/>
          <p:cNvSpPr/>
          <p:nvPr/>
        </p:nvSpPr>
        <p:spPr>
          <a:xfrm>
            <a:off x="2560320" y="1188720"/>
            <a:ext cx="384048" cy="384048"/>
          </a:xfrm>
          <a:prstGeom prst="ellipse">
            <a:avLst/>
          </a:prstGeom>
          <a:solidFill>
            <a:srgbClr val="B3152B"/>
          </a:solidFill>
          <a:ln w="12700">
            <a:solidFill>
              <a:srgbClr val="B3152B"/>
            </a:solidFill>
            <a:prstDash val="solid"/>
          </a:ln>
        </p:spPr>
      </p:sp>
      <p:sp>
        <p:nvSpPr>
          <p:cNvPr id="7" name="Text 5"/>
          <p:cNvSpPr txBox="1"/>
          <p:nvPr/>
        </p:nvSpPr>
        <p:spPr>
          <a:xfrm>
            <a:off x="256032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3063240" y="1143000"/>
            <a:ext cx="1508760" cy="822960"/>
          </a:xfrm>
          <a:prstGeom prst="rect">
            <a:avLst/>
          </a:prstGeom>
          <a:noFill/>
          <a:ln/>
        </p:spPr>
        <p:txBody>
          <a:bodyPr wrap="square" lIns="0" tIns="0" rIns="0" bIns="0" rtlCol="0" anchor="t"/>
          <a:lstStyle/>
          <a:p>
            <a:pPr indent="0" marL="0">
              <a:buNone/>
            </a:pPr>
            <a:r>
              <a:rPr lang="en-US" sz="1500" b="1" dirty="0">
                <a:solidFill>
                  <a:schemeClr val="tx1"/>
                </a:solidFill>
              </a:rPr>
              <a:t>Pipeline</a:t>
            </a:r>
            <a:endParaRPr lang="en-US" sz="1500" dirty="0"/>
          </a:p>
          <a:p>
            <a:pPr indent="0" marL="0">
              <a:buNone/>
            </a:pPr>
            <a:r>
              <a:rPr lang="en-US" sz="1200" dirty="0">
                <a:solidFill>
                  <a:schemeClr val="accent4"/>
                </a:solidFill>
              </a:rPr>
              <a:t>tests, scans, images: about 2 minutes</a:t>
            </a:r>
            <a:endParaRPr lang="en-US" sz="1500" dirty="0"/>
          </a:p>
        </p:txBody>
      </p:sp>
      <p:sp>
        <p:nvSpPr>
          <p:cNvPr id="9" name="marker 3"/>
          <p:cNvSpPr/>
          <p:nvPr/>
        </p:nvSpPr>
        <p:spPr>
          <a:xfrm>
            <a:off x="4663440" y="1188720"/>
            <a:ext cx="384048" cy="384048"/>
          </a:xfrm>
          <a:prstGeom prst="ellipse">
            <a:avLst/>
          </a:prstGeom>
          <a:solidFill>
            <a:srgbClr val="B3152B"/>
          </a:solidFill>
          <a:ln w="12700">
            <a:solidFill>
              <a:srgbClr val="B3152B"/>
            </a:solidFill>
            <a:prstDash val="solid"/>
          </a:ln>
        </p:spPr>
      </p:sp>
      <p:sp>
        <p:nvSpPr>
          <p:cNvPr id="10" name="Text 8"/>
          <p:cNvSpPr txBox="1"/>
          <p:nvPr/>
        </p:nvSpPr>
        <p:spPr>
          <a:xfrm>
            <a:off x="466344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5166360" y="1143000"/>
            <a:ext cx="1508760" cy="822960"/>
          </a:xfrm>
          <a:prstGeom prst="rect">
            <a:avLst/>
          </a:prstGeom>
          <a:noFill/>
          <a:ln/>
        </p:spPr>
        <p:txBody>
          <a:bodyPr wrap="square" lIns="0" tIns="0" rIns="0" bIns="0" rtlCol="0" anchor="t"/>
          <a:lstStyle/>
          <a:p>
            <a:pPr indent="0" marL="0">
              <a:buNone/>
            </a:pPr>
            <a:r>
              <a:rPr lang="en-US" sz="1500" b="1" dirty="0">
                <a:solidFill>
                  <a:schemeClr val="tx1"/>
                </a:solidFill>
              </a:rPr>
              <a:t>Deploy</a:t>
            </a:r>
            <a:endParaRPr lang="en-US" sz="1500" dirty="0"/>
          </a:p>
          <a:p>
            <a:pPr indent="0" marL="0">
              <a:buNone/>
            </a:pPr>
            <a:r>
              <a:rPr lang="en-US" sz="1200" dirty="0">
                <a:solidFill>
                  <a:schemeClr val="accent4"/>
                </a:solidFill>
              </a:rPr>
              <a:t>helm upgrade to the new SHA</a:t>
            </a:r>
            <a:endParaRPr lang="en-US" sz="1500" dirty="0"/>
          </a:p>
        </p:txBody>
      </p:sp>
      <p:sp>
        <p:nvSpPr>
          <p:cNvPr id="12" name="marker 4"/>
          <p:cNvSpPr/>
          <p:nvPr/>
        </p:nvSpPr>
        <p:spPr>
          <a:xfrm>
            <a:off x="6766560" y="1188720"/>
            <a:ext cx="384048" cy="384048"/>
          </a:xfrm>
          <a:prstGeom prst="ellipse">
            <a:avLst/>
          </a:prstGeom>
          <a:solidFill>
            <a:srgbClr val="B3152B"/>
          </a:solidFill>
          <a:ln w="12700">
            <a:solidFill>
              <a:srgbClr val="B3152B"/>
            </a:solidFill>
            <a:prstDash val="solid"/>
          </a:ln>
        </p:spPr>
      </p:sp>
      <p:sp>
        <p:nvSpPr>
          <p:cNvPr id="13" name="Text 11"/>
          <p:cNvSpPr txBox="1"/>
          <p:nvPr/>
        </p:nvSpPr>
        <p:spPr>
          <a:xfrm>
            <a:off x="676656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7269480" y="1143000"/>
            <a:ext cx="1508760" cy="822960"/>
          </a:xfrm>
          <a:prstGeom prst="rect">
            <a:avLst/>
          </a:prstGeom>
          <a:noFill/>
          <a:ln/>
        </p:spPr>
        <p:txBody>
          <a:bodyPr wrap="square" lIns="0" tIns="0" rIns="0" bIns="0" rtlCol="0" anchor="t"/>
          <a:lstStyle/>
          <a:p>
            <a:pPr indent="0" marL="0">
              <a:buNone/>
            </a:pPr>
            <a:r>
              <a:rPr lang="en-US" sz="1500" b="1" dirty="0">
                <a:solidFill>
                  <a:schemeClr val="tx1"/>
                </a:solidFill>
              </a:rPr>
              <a:t>Verify</a:t>
            </a:r>
            <a:endParaRPr lang="en-US" sz="1500" dirty="0"/>
          </a:p>
          <a:p>
            <a:pPr indent="0" marL="0">
              <a:buNone/>
            </a:pPr>
            <a:r>
              <a:rPr lang="en-US" sz="1200" dirty="0">
                <a:solidFill>
                  <a:schemeClr val="accent4"/>
                </a:solidFill>
              </a:rPr>
              <a:t>the footer shows the new build</a:t>
            </a:r>
            <a:endParaRPr lang="en-US" sz="1500" dirty="0"/>
          </a:p>
        </p:txBody>
      </p:sp>
      <p:sp>
        <p:nvSpPr>
          <p:cNvPr id="15" name="Footer showing the deployed build frame"/>
          <p:cNvSpPr/>
          <p:nvPr/>
        </p:nvSpPr>
        <p:spPr>
          <a:xfrm>
            <a:off x="457200" y="2240280"/>
            <a:ext cx="40233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6" name="Footer showing the deployed build" descr="Footer showing the deployed build">    </p:cNvPr>
          <p:cNvPicPr>
            <a:picLocks noChangeAspect="1"/>
          </p:cNvPicPr>
          <p:nvPr/>
        </p:nvPicPr>
        <p:blipFill>
          <a:blip r:embed="rId1"/>
          <a:stretch>
            <a:fillRect/>
          </a:stretch>
        </p:blipFill>
        <p:spPr>
          <a:xfrm>
            <a:off x="521208" y="2374281"/>
            <a:ext cx="3895344" cy="920718"/>
          </a:xfrm>
          <a:prstGeom prst="rect">
            <a:avLst/>
          </a:prstGeom>
        </p:spPr>
      </p:pic>
      <p:sp>
        <p:nvSpPr>
          <p:cNvPr id="17" name="Pipeline deploying to EKS frame"/>
          <p:cNvSpPr/>
          <p:nvPr/>
        </p:nvSpPr>
        <p:spPr>
          <a:xfrm>
            <a:off x="4663440" y="2103120"/>
            <a:ext cx="4023360" cy="2514600"/>
          </a:xfrm>
          <a:prstGeom prst="roundRect">
            <a:avLst>
              <a:gd name="adj" fmla="val 2909"/>
            </a:avLst>
          </a:prstGeom>
          <a:solidFill>
            <a:schemeClr val="bg2"/>
          </a:solidFill>
          <a:ln w="12700">
            <a:solidFill>
              <a:schemeClr val="bg2"/>
            </a:solidFill>
            <a:prstDash val="solid"/>
          </a:ln>
          <a:effectLst>
            <a:outerShdw sx="100000" sy="100000" kx="0" ky="0" algn="bl" rotWithShape="0" blurRad="76200" dist="25400" dir="5400000">
              <a:srgbClr val="000000">
                <a:alpha val="18000"/>
              </a:srgbClr>
            </a:outerShdw>
          </a:effectLst>
        </p:spPr>
      </p:sp>
      <p:pic>
        <p:nvPicPr>
          <p:cNvPr id="18" name="Pipeline deploying to EKS" descr="Pipeline deploying to EKS">    </p:cNvPr>
          <p:cNvPicPr>
            <a:picLocks noChangeAspect="1"/>
          </p:cNvPicPr>
          <p:nvPr/>
        </p:nvPicPr>
        <p:blipFill>
          <a:blip r:embed="rId2"/>
          <a:stretch>
            <a:fillRect/>
          </a:stretch>
        </p:blipFill>
        <p:spPr>
          <a:xfrm>
            <a:off x="4765853" y="2167128"/>
            <a:ext cx="3818534" cy="2386584"/>
          </a:xfrm>
          <a:prstGeom prst="rect">
            <a:avLst/>
          </a:prstGeom>
        </p:spPr>
      </p:pic>
      <p:sp>
        <p:nvSpPr>
          <p:cNvPr id="19" name="Text 15"/>
          <p:cNvSpPr txBox="1"/>
          <p:nvPr/>
        </p:nvSpPr>
        <p:spPr>
          <a:xfrm>
            <a:off x="457200" y="3611880"/>
            <a:ext cx="4023360" cy="822960"/>
          </a:xfrm>
          <a:prstGeom prst="rect">
            <a:avLst/>
          </a:prstGeom>
          <a:noFill/>
          <a:ln/>
        </p:spPr>
        <p:txBody>
          <a:bodyPr wrap="square" lIns="0" tIns="0" rIns="0" bIns="0" rtlCol="0" anchor="t"/>
          <a:lstStyle/>
          <a:p>
            <a:pPr indent="0" marL="0">
              <a:buNone/>
            </a:pPr>
            <a:r>
              <a:rPr lang="en-US" sz="1200" dirty="0">
                <a:solidFill>
                  <a:schemeClr val="accent6"/>
                </a:solidFill>
              </a:rPr>
              <a:t>Recorded run: docs/demo/bloodlink-demo.mp4 · on EKS the deploy job ran by itself through OIDC (commit 388c554)</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0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8046720" cy="73152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broke, and what it taught me</a:t>
            </a:r>
            <a:endParaRPr lang="en-US" sz="3200" dirty="0"/>
          </a:p>
        </p:txBody>
      </p:sp>
      <p:sp>
        <p:nvSpPr>
          <p:cNvPr id="3" name="lesson 1"/>
          <p:cNvSpPr/>
          <p:nvPr/>
        </p:nvSpPr>
        <p:spPr>
          <a:xfrm>
            <a:off x="548640" y="1417320"/>
            <a:ext cx="3840480" cy="1051560"/>
          </a:xfrm>
          <a:prstGeom prst="roundRect">
            <a:avLst>
              <a:gd name="adj" fmla="val 8696"/>
            </a:avLst>
          </a:prstGeom>
          <a:solidFill>
            <a:srgbClr val="5C0A16"/>
          </a:solidFill>
          <a:ln w="12700">
            <a:solidFill>
              <a:srgbClr val="5C0A16"/>
            </a:solidFill>
            <a:prstDash val="solid"/>
          </a:ln>
        </p:spPr>
      </p:sp>
      <p:sp>
        <p:nvSpPr>
          <p:cNvPr id="4" name="Text 2"/>
          <p:cNvSpPr txBox="1"/>
          <p:nvPr/>
        </p:nvSpPr>
        <p:spPr>
          <a:xfrm>
            <a:off x="713232" y="1527048"/>
            <a:ext cx="3511296" cy="868680"/>
          </a:xfrm>
          <a:prstGeom prst="rect">
            <a:avLst/>
          </a:prstGeom>
          <a:noFill/>
          <a:ln/>
        </p:spPr>
        <p:txBody>
          <a:bodyPr wrap="square" lIns="0" tIns="0" rIns="0" bIns="0" rtlCol="0" anchor="t"/>
          <a:lstStyle/>
          <a:p>
            <a:pPr indent="0" marL="0">
              <a:buNone/>
            </a:pPr>
            <a:r>
              <a:rPr lang="en-US" sz="1400" b="1" dirty="0">
                <a:solidFill>
                  <a:schemeClr val="bg1"/>
                </a:solidFill>
              </a:rPr>
              <a:t>AWS allowed one region</a:t>
            </a:r>
            <a:endParaRPr lang="en-US" sz="1400" dirty="0"/>
          </a:p>
          <a:p>
            <a:pPr indent="0" marL="0">
              <a:buNone/>
            </a:pPr>
            <a:r>
              <a:rPr lang="en-US" sz="1200" dirty="0">
                <a:solidFill>
                  <a:schemeClr val="accent5"/>
                </a:solidFill>
              </a:rPr>
              <a:t>dry-run checks per region showed only ap-southeast-2 passes the organization policy</a:t>
            </a:r>
            <a:endParaRPr lang="en-US" sz="1400" dirty="0"/>
          </a:p>
        </p:txBody>
      </p:sp>
      <p:sp>
        <p:nvSpPr>
          <p:cNvPr id="5" name="lesson 2"/>
          <p:cNvSpPr/>
          <p:nvPr/>
        </p:nvSpPr>
        <p:spPr>
          <a:xfrm>
            <a:off x="4663440" y="1417320"/>
            <a:ext cx="3840480" cy="1051560"/>
          </a:xfrm>
          <a:prstGeom prst="roundRect">
            <a:avLst>
              <a:gd name="adj" fmla="val 8696"/>
            </a:avLst>
          </a:prstGeom>
          <a:solidFill>
            <a:srgbClr val="5C0A16"/>
          </a:solidFill>
          <a:ln w="12700">
            <a:solidFill>
              <a:srgbClr val="5C0A16"/>
            </a:solidFill>
            <a:prstDash val="solid"/>
          </a:ln>
        </p:spPr>
      </p:sp>
      <p:sp>
        <p:nvSpPr>
          <p:cNvPr id="6" name="Text 4"/>
          <p:cNvSpPr txBox="1"/>
          <p:nvPr/>
        </p:nvSpPr>
        <p:spPr>
          <a:xfrm>
            <a:off x="4828032" y="1527048"/>
            <a:ext cx="3511296" cy="868680"/>
          </a:xfrm>
          <a:prstGeom prst="rect">
            <a:avLst/>
          </a:prstGeom>
          <a:noFill/>
          <a:ln/>
        </p:spPr>
        <p:txBody>
          <a:bodyPr wrap="square" lIns="0" tIns="0" rIns="0" bIns="0" rtlCol="0" anchor="t"/>
          <a:lstStyle/>
          <a:p>
            <a:pPr indent="0" marL="0">
              <a:buNone/>
            </a:pPr>
            <a:r>
              <a:rPr lang="en-US" sz="1400" b="1" dirty="0">
                <a:solidFill>
                  <a:schemeClr val="bg1"/>
                </a:solidFill>
              </a:rPr>
              <a:t>GitHub could not sign in to AWS</a:t>
            </a:r>
            <a:endParaRPr lang="en-US" sz="1400" dirty="0"/>
          </a:p>
          <a:p>
            <a:pPr indent="0" marL="0">
              <a:buNone/>
            </a:pPr>
            <a:r>
              <a:rPr lang="en-US" sz="1200" dirty="0">
                <a:solidFill>
                  <a:schemeClr val="accent5"/>
                </a:solidFill>
              </a:rPr>
              <a:t>CloudTrail showed the new immutable OIDC subject; fixed in the trust policy</a:t>
            </a:r>
            <a:endParaRPr lang="en-US" sz="1400" dirty="0"/>
          </a:p>
        </p:txBody>
      </p:sp>
      <p:sp>
        <p:nvSpPr>
          <p:cNvPr id="7" name="lesson 3"/>
          <p:cNvSpPr/>
          <p:nvPr/>
        </p:nvSpPr>
        <p:spPr>
          <a:xfrm>
            <a:off x="548640" y="2651760"/>
            <a:ext cx="3840480" cy="1051560"/>
          </a:xfrm>
          <a:prstGeom prst="roundRect">
            <a:avLst>
              <a:gd name="adj" fmla="val 8696"/>
            </a:avLst>
          </a:prstGeom>
          <a:solidFill>
            <a:srgbClr val="5C0A16"/>
          </a:solidFill>
          <a:ln w="12700">
            <a:solidFill>
              <a:srgbClr val="5C0A16"/>
            </a:solidFill>
            <a:prstDash val="solid"/>
          </a:ln>
        </p:spPr>
      </p:sp>
      <p:sp>
        <p:nvSpPr>
          <p:cNvPr id="8" name="Text 6"/>
          <p:cNvSpPr txBox="1"/>
          <p:nvPr/>
        </p:nvSpPr>
        <p:spPr>
          <a:xfrm>
            <a:off x="713232" y="2761488"/>
            <a:ext cx="3511296" cy="868680"/>
          </a:xfrm>
          <a:prstGeom prst="rect">
            <a:avLst/>
          </a:prstGeom>
          <a:noFill/>
          <a:ln/>
        </p:spPr>
        <p:txBody>
          <a:bodyPr wrap="square" lIns="0" tIns="0" rIns="0" bIns="0" rtlCol="0" anchor="t"/>
          <a:lstStyle/>
          <a:p>
            <a:pPr indent="0" marL="0">
              <a:buNone/>
            </a:pPr>
            <a:r>
              <a:rPr lang="en-US" sz="1400" b="1" dirty="0">
                <a:solidFill>
                  <a:schemeClr val="bg1"/>
                </a:solidFill>
              </a:rPr>
              <a:t>Grafana kept restarting</a:t>
            </a:r>
            <a:endParaRPr lang="en-US" sz="1400" dirty="0"/>
          </a:p>
          <a:p>
            <a:pPr indent="0" marL="0">
              <a:buNone/>
            </a:pPr>
            <a:r>
              <a:rPr lang="en-US" sz="1200" dirty="0">
                <a:solidFill>
                  <a:schemeClr val="accent5"/>
                </a:solidFill>
              </a:rPr>
              <a:t>OOMKilled at 256 MiB under load; limit raised to 512 MiB</a:t>
            </a:r>
            <a:endParaRPr lang="en-US" sz="1400" dirty="0"/>
          </a:p>
        </p:txBody>
      </p:sp>
      <p:sp>
        <p:nvSpPr>
          <p:cNvPr id="9" name="lesson 4"/>
          <p:cNvSpPr/>
          <p:nvPr/>
        </p:nvSpPr>
        <p:spPr>
          <a:xfrm>
            <a:off x="4663440" y="2651760"/>
            <a:ext cx="3840480" cy="1051560"/>
          </a:xfrm>
          <a:prstGeom prst="roundRect">
            <a:avLst>
              <a:gd name="adj" fmla="val 8696"/>
            </a:avLst>
          </a:prstGeom>
          <a:solidFill>
            <a:srgbClr val="5C0A16"/>
          </a:solidFill>
          <a:ln w="12700">
            <a:solidFill>
              <a:srgbClr val="5C0A16"/>
            </a:solidFill>
            <a:prstDash val="solid"/>
          </a:ln>
        </p:spPr>
      </p:sp>
      <p:sp>
        <p:nvSpPr>
          <p:cNvPr id="10" name="Text 8"/>
          <p:cNvSpPr txBox="1"/>
          <p:nvPr/>
        </p:nvSpPr>
        <p:spPr>
          <a:xfrm>
            <a:off x="4828032" y="2761488"/>
            <a:ext cx="3511296" cy="868680"/>
          </a:xfrm>
          <a:prstGeom prst="rect">
            <a:avLst/>
          </a:prstGeom>
          <a:noFill/>
          <a:ln/>
        </p:spPr>
        <p:txBody>
          <a:bodyPr wrap="square" lIns="0" tIns="0" rIns="0" bIns="0" rtlCol="0" anchor="t"/>
          <a:lstStyle/>
          <a:p>
            <a:pPr indent="0" marL="0">
              <a:buNone/>
            </a:pPr>
            <a:r>
              <a:rPr lang="en-US" sz="1400" b="1" dirty="0">
                <a:solidFill>
                  <a:schemeClr val="bg1"/>
                </a:solidFill>
              </a:rPr>
              <a:t>Kubernetes control plane crashed</a:t>
            </a:r>
            <a:endParaRPr lang="en-US" sz="1400" dirty="0"/>
          </a:p>
          <a:p>
            <a:pPr indent="0" marL="0">
              <a:buNone/>
            </a:pPr>
            <a:r>
              <a:rPr lang="en-US" sz="1200" dirty="0">
                <a:solidFill>
                  <a:schemeClr val="accent5"/>
                </a:solidFill>
              </a:rPr>
              <a:t>slow disk delayed etcd writes; leader election lost, tuned leases</a:t>
            </a:r>
            <a:endParaRPr lang="en-US" sz="1400" dirty="0"/>
          </a:p>
        </p:txBody>
      </p:sp>
      <p:sp>
        <p:nvSpPr>
          <p:cNvPr id="11" name="Text 9"/>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300" dirty="0">
                <a:solidFill>
                  <a:schemeClr val="bg1"/>
                </a:solidFill>
              </a:rPr>
              <a:t>Evidence for every module: docs/EVIDENCE.md · github.com/Ishan007-bot/Bloodlink</a:t>
            </a:r>
            <a:endParaRPr lang="en-US" sz="1300" dirty="0"/>
          </a:p>
        </p:txBody>
      </p:sp>
      <p:sp>
        <p:nvSpPr>
          <p:cNvPr id="13" name="Text 0"/>
          <p:cNvSpPr/>
          <p:nvPr>
            <p:ph idx="100" type="title" hasCustomPrompt="1"/>
          </p:nvPr>
        </p:nvSpPr>
        <p:spPr>
          <a:xfrm>
            <a:off x="548640" y="1234440"/>
            <a:ext cx="8046720" cy="914400"/>
          </a:xfrm>
          <a:prstGeom prst="rect">
            <a:avLst/>
          </a:prstGeom>
          <a:noFill/>
          <a:ln/>
        </p:spPr>
        <p:txBody>
          <a:bodyPr wrap="square" lIns="0" tIns="0" rIns="0" bIns="0" rtlCol="0" anchor="b"/>
          <a:lstStyle/>
          <a:p>
            <a:pPr algn="l" indent="0" marL="0">
              <a:buNone/>
            </a:pPr>
            <a:endParaRPr lang="en-US" sz="4400" dirty="0"/>
          </a:p>
        </p:txBody>
      </p:sp>
      <p:sp>
        <p:nvSpPr>
          <p:cNvPr id="14" name="Text 0"/>
          <p:cNvSpPr/>
          <p:nvPr>
            <p:ph idx="101" type="body" hasCustomPrompt="1"/>
          </p:nvPr>
        </p:nvSpPr>
        <p:spPr>
          <a:xfrm>
            <a:off x="548640" y="2240280"/>
            <a:ext cx="8046720" cy="82296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BloodLink">
  <a:themeElements>
    <a:clrScheme name="BloodLink">
      <a:dk1>
        <a:srgbClr val="1C1B22"/>
      </a:dk1>
      <a:lt1>
        <a:srgbClr val="FFFFFF"/>
      </a:lt1>
      <a:dk2>
        <a:srgbClr val="5C0A16"/>
      </a:dk2>
      <a:lt2>
        <a:srgbClr val="F3F1F4"/>
      </a:lt2>
      <a:accent1>
        <a:srgbClr val="B3152B"/>
      </a:accent1>
      <a:accent2>
        <a:srgbClr val="2E7D5B"/>
      </a:accent2>
      <a:accent3>
        <a:srgbClr val="C27C1E"/>
      </a:accent3>
      <a:accent4>
        <a:srgbClr val="3A3F58"/>
      </a:accent4>
      <a:accent5>
        <a:srgbClr val="E9B8C0"/>
      </a:accent5>
      <a:accent6>
        <a:srgbClr val="6B7080"/>
      </a:accent6>
      <a:hlink>
        <a:srgbClr val="B3152B"/>
      </a:hlink>
      <a:folHlink>
        <a:srgbClr val="5C0A16"/>
      </a:folHlink>
    </a:clrScheme>
    <a:fontScheme name="BloodL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BloodLink: DevOps capstone</dc:title>
  <dc:subject>PptxGenJS Presentation</dc:subject>
  <dc:creator>Ishan Ganguly</dc:creator>
  <cp:lastModifiedBy>Ishan Ganguly</cp:lastModifiedBy>
  <cp:revision>1</cp:revision>
  <dcterms:created xsi:type="dcterms:W3CDTF">2026-10-15T17:09:25Z</dcterms:created>
  <dcterms:modified xsi:type="dcterms:W3CDTF">2026-10-15T17:09:25Z</dcterms:modified>
</cp:coreProperties>
</file>